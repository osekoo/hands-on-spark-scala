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87ec963de24b29" /><Relationship Type="http://schemas.openxmlformats.org/officeDocument/2006/relationships/extended-properties" Target="/docProps/app.xml" Id="R3f6bc25356414844" /><Relationship Type="http://schemas.openxmlformats.org/officeDocument/2006/relationships/officeDocument" Target="/ppt/presentation.xml" Id="Rc70d41d5a92c41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8160e63e7f4180"/>
  </p:sldMasterIdLst>
  <p:notesMasterIdLst>
    <p:notesMasterId xmlns:r="http://schemas.openxmlformats.org/officeDocument/2006/relationships" r:id="R2ed6f91fc90c4a2a"/>
  </p:notesMasterIdLst>
  <p:sldIdLst>
    <p:sldId xmlns:r="http://schemas.openxmlformats.org/officeDocument/2006/relationships" id="256" r:id="R78d32c7c28a843c9"/>
    <p:sldId xmlns:r="http://schemas.openxmlformats.org/officeDocument/2006/relationships" id="257" r:id="R0cf2b4d719094298"/>
    <p:sldId xmlns:r="http://schemas.openxmlformats.org/officeDocument/2006/relationships" id="258" r:id="Rb1ed7ad99a474e1d"/>
    <p:sldId xmlns:r="http://schemas.openxmlformats.org/officeDocument/2006/relationships" id="259" r:id="Rf5e3541bc2c24370"/>
    <p:sldId xmlns:r="http://schemas.openxmlformats.org/officeDocument/2006/relationships" id="260" r:id="R026e278e0c6b457c"/>
    <p:sldId xmlns:r="http://schemas.openxmlformats.org/officeDocument/2006/relationships" id="261" r:id="Rd233ddd9f9454cb9"/>
    <p:sldId xmlns:r="http://schemas.openxmlformats.org/officeDocument/2006/relationships" id="262" r:id="R83b08aef0e2042a2"/>
    <p:sldId xmlns:r="http://schemas.openxmlformats.org/officeDocument/2006/relationships" id="263" r:id="Rbef6dccc933d4fbe"/>
    <p:sldId xmlns:r="http://schemas.openxmlformats.org/officeDocument/2006/relationships" id="264" r:id="R7088c023e7e04af7"/>
    <p:sldId xmlns:r="http://schemas.openxmlformats.org/officeDocument/2006/relationships" id="265" r:id="R299e44780cf74fdb"/>
    <p:sldId xmlns:r="http://schemas.openxmlformats.org/officeDocument/2006/relationships" id="266" r:id="Rf2674f7057ee4d9b"/>
    <p:sldId xmlns:r="http://schemas.openxmlformats.org/officeDocument/2006/relationships" id="267" r:id="Rcd013d14dbf84314"/>
    <p:sldId xmlns:r="http://schemas.openxmlformats.org/officeDocument/2006/relationships" id="268" r:id="R9d6fbd18689f4c4d"/>
    <p:sldId xmlns:r="http://schemas.openxmlformats.org/officeDocument/2006/relationships" id="269" r:id="Rab0c416dc0944424"/>
    <p:sldId xmlns:r="http://schemas.openxmlformats.org/officeDocument/2006/relationships" id="270" r:id="Ra488b1163e2b400a"/>
    <p:sldId xmlns:r="http://schemas.openxmlformats.org/officeDocument/2006/relationships" id="271" r:id="Rd13320fc15094397"/>
    <p:sldId xmlns:r="http://schemas.openxmlformats.org/officeDocument/2006/relationships" id="272" r:id="R1abc6335500e494a"/>
    <p:sldId xmlns:r="http://schemas.openxmlformats.org/officeDocument/2006/relationships" id="273" r:id="Rb008695663354ebe"/>
    <p:sldId xmlns:r="http://schemas.openxmlformats.org/officeDocument/2006/relationships" id="274" r:id="R8359914eac0c44a0"/>
    <p:sldId xmlns:r="http://schemas.openxmlformats.org/officeDocument/2006/relationships" id="275" r:id="R08d68e25fe92420d"/>
    <p:sldId xmlns:r="http://schemas.openxmlformats.org/officeDocument/2006/relationships" id="276" r:id="Ra344c95911da493d"/>
    <p:sldId xmlns:r="http://schemas.openxmlformats.org/officeDocument/2006/relationships" id="277" r:id="R158275a4049d44c5"/>
    <p:sldId xmlns:r="http://schemas.openxmlformats.org/officeDocument/2006/relationships" id="278" r:id="Rf9f3d3750f954cb5"/>
    <p:sldId xmlns:r="http://schemas.openxmlformats.org/officeDocument/2006/relationships" id="279" r:id="R3ffb11ba61374243"/>
    <p:sldId xmlns:r="http://schemas.openxmlformats.org/officeDocument/2006/relationships" id="280" r:id="Reb8f2f43b67641bc"/>
    <p:sldId xmlns:r="http://schemas.openxmlformats.org/officeDocument/2006/relationships" id="281" r:id="Raa8694946bc645fe"/>
    <p:sldId xmlns:r="http://schemas.openxmlformats.org/officeDocument/2006/relationships" id="282" r:id="Rba671c351cdf4cd7"/>
    <p:sldId xmlns:r="http://schemas.openxmlformats.org/officeDocument/2006/relationships" id="283" r:id="R208cbf28a567447c"/>
    <p:sldId xmlns:r="http://schemas.openxmlformats.org/officeDocument/2006/relationships" id="284" r:id="R3d507dad825846f5"/>
    <p:sldId xmlns:r="http://schemas.openxmlformats.org/officeDocument/2006/relationships" id="285" r:id="R323beec5c1614e94"/>
    <p:sldId xmlns:r="http://schemas.openxmlformats.org/officeDocument/2006/relationships" id="286" r:id="Rcafe58b1f0de400d"/>
    <p:sldId xmlns:r="http://schemas.openxmlformats.org/officeDocument/2006/relationships" id="287" r:id="R570ab8fe7eb7490d"/>
    <p:sldId xmlns:r="http://schemas.openxmlformats.org/officeDocument/2006/relationships" id="288" r:id="Rec40cf6a4b78484e"/>
    <p:sldId xmlns:r="http://schemas.openxmlformats.org/officeDocument/2006/relationships" id="289" r:id="R8c59e150eb9b428e"/>
    <p:sldId xmlns:r="http://schemas.openxmlformats.org/officeDocument/2006/relationships" id="290" r:id="Re378df93c0c648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fa941b1cce4dff" /><Relationship Type="http://schemas.openxmlformats.org/officeDocument/2006/relationships/slideMaster" Target="/ppt/slideMasters/slideMaster1.xml" Id="R148160e63e7f4180" /><Relationship Type="http://schemas.openxmlformats.org/officeDocument/2006/relationships/notesMaster" Target="/ppt/notesMasters/notesMaster1.xml" Id="R2ed6f91fc90c4a2a" /><Relationship Type="http://schemas.openxmlformats.org/officeDocument/2006/relationships/presProps" Target="/ppt/presProps.xml" Id="Rf72fc00ad92241a9" /><Relationship Type="http://schemas.openxmlformats.org/officeDocument/2006/relationships/tableStyles" Target="/ppt/tableStyles.xml" Id="R078bdcd3304e46da" /><Relationship Type="http://schemas.openxmlformats.org/officeDocument/2006/relationships/slide" Target="/ppt/slides/slide1.xml" Id="R78d32c7c28a843c9" /><Relationship Type="http://schemas.openxmlformats.org/officeDocument/2006/relationships/slide" Target="/ppt/slides/slide2.xml" Id="R0cf2b4d719094298" /><Relationship Type="http://schemas.openxmlformats.org/officeDocument/2006/relationships/slide" Target="/ppt/slides/slide3.xml" Id="Rb1ed7ad99a474e1d" /><Relationship Type="http://schemas.openxmlformats.org/officeDocument/2006/relationships/slide" Target="/ppt/slides/slide4.xml" Id="Rf5e3541bc2c24370" /><Relationship Type="http://schemas.openxmlformats.org/officeDocument/2006/relationships/slide" Target="/ppt/slides/slide5.xml" Id="R026e278e0c6b457c" /><Relationship Type="http://schemas.openxmlformats.org/officeDocument/2006/relationships/slide" Target="/ppt/slides/slide6.xml" Id="Rd233ddd9f9454cb9" /><Relationship Type="http://schemas.openxmlformats.org/officeDocument/2006/relationships/slide" Target="/ppt/slides/slide7.xml" Id="R83b08aef0e2042a2" /><Relationship Type="http://schemas.openxmlformats.org/officeDocument/2006/relationships/slide" Target="/ppt/slides/slide8.xml" Id="Rbef6dccc933d4fbe" /><Relationship Type="http://schemas.openxmlformats.org/officeDocument/2006/relationships/slide" Target="/ppt/slides/slide9.xml" Id="R7088c023e7e04af7" /><Relationship Type="http://schemas.openxmlformats.org/officeDocument/2006/relationships/slide" Target="/ppt/slides/slide10.xml" Id="R299e44780cf74fdb" /><Relationship Type="http://schemas.openxmlformats.org/officeDocument/2006/relationships/slide" Target="/ppt/slides/slide11.xml" Id="Rf2674f7057ee4d9b" /><Relationship Type="http://schemas.openxmlformats.org/officeDocument/2006/relationships/slide" Target="/ppt/slides/slide12.xml" Id="Rcd013d14dbf84314" /><Relationship Type="http://schemas.openxmlformats.org/officeDocument/2006/relationships/slide" Target="/ppt/slides/slide13.xml" Id="R9d6fbd18689f4c4d" /><Relationship Type="http://schemas.openxmlformats.org/officeDocument/2006/relationships/slide" Target="/ppt/slides/slide14.xml" Id="Rab0c416dc0944424" /><Relationship Type="http://schemas.openxmlformats.org/officeDocument/2006/relationships/slide" Target="/ppt/slides/slide15.xml" Id="Ra488b1163e2b400a" /><Relationship Type="http://schemas.openxmlformats.org/officeDocument/2006/relationships/slide" Target="/ppt/slides/slide16.xml" Id="Rd13320fc15094397" /><Relationship Type="http://schemas.openxmlformats.org/officeDocument/2006/relationships/slide" Target="/ppt/slides/slide17.xml" Id="R1abc6335500e494a" /><Relationship Type="http://schemas.openxmlformats.org/officeDocument/2006/relationships/slide" Target="/ppt/slides/slide18.xml" Id="Rb008695663354ebe" /><Relationship Type="http://schemas.openxmlformats.org/officeDocument/2006/relationships/slide" Target="/ppt/slides/slide19.xml" Id="R8359914eac0c44a0" /><Relationship Type="http://schemas.openxmlformats.org/officeDocument/2006/relationships/slide" Target="/ppt/slides/slide20.xml" Id="R08d68e25fe92420d" /><Relationship Type="http://schemas.openxmlformats.org/officeDocument/2006/relationships/slide" Target="/ppt/slides/slide21.xml" Id="Ra344c95911da493d" /><Relationship Type="http://schemas.openxmlformats.org/officeDocument/2006/relationships/slide" Target="/ppt/slides/slide22.xml" Id="R158275a4049d44c5" /><Relationship Type="http://schemas.openxmlformats.org/officeDocument/2006/relationships/slide" Target="/ppt/slides/slide23.xml" Id="Rf9f3d3750f954cb5" /><Relationship Type="http://schemas.openxmlformats.org/officeDocument/2006/relationships/slide" Target="/ppt/slides/slide24.xml" Id="R3ffb11ba61374243" /><Relationship Type="http://schemas.openxmlformats.org/officeDocument/2006/relationships/slide" Target="/ppt/slides/slide25.xml" Id="Reb8f2f43b67641bc" /><Relationship Type="http://schemas.openxmlformats.org/officeDocument/2006/relationships/slide" Target="/ppt/slides/slide26.xml" Id="Raa8694946bc645fe" /><Relationship Type="http://schemas.openxmlformats.org/officeDocument/2006/relationships/slide" Target="/ppt/slides/slide27.xml" Id="Rba671c351cdf4cd7" /><Relationship Type="http://schemas.openxmlformats.org/officeDocument/2006/relationships/slide" Target="/ppt/slides/slide28.xml" Id="R208cbf28a567447c" /><Relationship Type="http://schemas.openxmlformats.org/officeDocument/2006/relationships/slide" Target="/ppt/slides/slide29.xml" Id="R3d507dad825846f5" /><Relationship Type="http://schemas.openxmlformats.org/officeDocument/2006/relationships/slide" Target="/ppt/slides/slide30.xml" Id="R323beec5c1614e94" /><Relationship Type="http://schemas.openxmlformats.org/officeDocument/2006/relationships/slide" Target="/ppt/slides/slide31.xml" Id="Rcafe58b1f0de400d" /><Relationship Type="http://schemas.openxmlformats.org/officeDocument/2006/relationships/slide" Target="/ppt/slides/slide32.xml" Id="R570ab8fe7eb7490d" /><Relationship Type="http://schemas.openxmlformats.org/officeDocument/2006/relationships/slide" Target="/ppt/slides/slide33.xml" Id="Rec40cf6a4b78484e" /><Relationship Type="http://schemas.openxmlformats.org/officeDocument/2006/relationships/slide" Target="/ppt/slides/slide34.xml" Id="R8c59e150eb9b428e" /><Relationship Type="http://schemas.openxmlformats.org/officeDocument/2006/relationships/slide" Target="/ppt/slides/slide35.xml" Id="Re378df93c0c648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ea585e98fb42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49594f65dc4132" /><Relationship Type="http://schemas.openxmlformats.org/officeDocument/2006/relationships/notesMaster" Target="/ppt/notesMasters/notesMaster1.xml" Id="Rf9ddd1340a294f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f95aca486b4cb3" /><Relationship Type="http://schemas.openxmlformats.org/officeDocument/2006/relationships/notesMaster" Target="/ppt/notesMasters/notesMaster1.xml" Id="Rca32e0d0557b40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fa06d058c14cae" /><Relationship Type="http://schemas.openxmlformats.org/officeDocument/2006/relationships/notesMaster" Target="/ppt/notesMasters/notesMaster1.xml" Id="R0a213ff8462b40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60ccbb07304f2a" /><Relationship Type="http://schemas.openxmlformats.org/officeDocument/2006/relationships/notesMaster" Target="/ppt/notesMasters/notesMaster1.xml" Id="R86424937fb8242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d71bc31c554aa7" /><Relationship Type="http://schemas.openxmlformats.org/officeDocument/2006/relationships/notesMaster" Target="/ppt/notesMasters/notesMaster1.xml" Id="R382d33100a7b44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c75a2f9f5f42b7" /><Relationship Type="http://schemas.openxmlformats.org/officeDocument/2006/relationships/notesMaster" Target="/ppt/notesMasters/notesMaster1.xml" Id="Rbc92429c59d249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1770ee8b884bf7" /><Relationship Type="http://schemas.openxmlformats.org/officeDocument/2006/relationships/notesMaster" Target="/ppt/notesMasters/notesMaster1.xml" Id="R9a19d56cfc1346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d17a313a464c64" /><Relationship Type="http://schemas.openxmlformats.org/officeDocument/2006/relationships/notesMaster" Target="/ppt/notesMasters/notesMaster1.xml" Id="Re24b6b5923aa49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40904982684b86" /><Relationship Type="http://schemas.openxmlformats.org/officeDocument/2006/relationships/notesMaster" Target="/ppt/notesMasters/notesMaster1.xml" Id="R77d52f249a034a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14ca18773e425a" /><Relationship Type="http://schemas.openxmlformats.org/officeDocument/2006/relationships/notesMaster" Target="/ppt/notesMasters/notesMaster1.xml" Id="R91b94433c3dd40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c3a1fcbcc84987" /><Relationship Type="http://schemas.openxmlformats.org/officeDocument/2006/relationships/notesMaster" Target="/ppt/notesMasters/notesMaster1.xml" Id="R6c6f79098b4d4f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8828c668ce45d9" /><Relationship Type="http://schemas.openxmlformats.org/officeDocument/2006/relationships/notesMaster" Target="/ppt/notesMasters/notesMaster1.xml" Id="R4cf07161b867439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71da0f7de3d410a" /><Relationship Type="http://schemas.openxmlformats.org/officeDocument/2006/relationships/notesMaster" Target="/ppt/notesMasters/notesMaster1.xml" Id="Rabbc0a84f1d842e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0d0763c6245465b" /><Relationship Type="http://schemas.openxmlformats.org/officeDocument/2006/relationships/notesMaster" Target="/ppt/notesMasters/notesMaster1.xml" Id="R9195ea8b4e4b466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7ab121a64d244f6" /><Relationship Type="http://schemas.openxmlformats.org/officeDocument/2006/relationships/notesMaster" Target="/ppt/notesMasters/notesMaster1.xml" Id="Rf6c1bafc28eb4cf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515bd709a974bd3" /><Relationship Type="http://schemas.openxmlformats.org/officeDocument/2006/relationships/notesMaster" Target="/ppt/notesMasters/notesMaster1.xml" Id="Rcd8336ef0c8f4f0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b6331046da44dba" /><Relationship Type="http://schemas.openxmlformats.org/officeDocument/2006/relationships/notesMaster" Target="/ppt/notesMasters/notesMaster1.xml" Id="Rf69d08bfdf264ee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c86af4d8a6a40f4" /><Relationship Type="http://schemas.openxmlformats.org/officeDocument/2006/relationships/notesMaster" Target="/ppt/notesMasters/notesMaster1.xml" Id="R64dbe63cf73641d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ec28b7044a04673" /><Relationship Type="http://schemas.openxmlformats.org/officeDocument/2006/relationships/notesMaster" Target="/ppt/notesMasters/notesMaster1.xml" Id="R47564c7f1e20427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b9f61cdb46e47d1" /><Relationship Type="http://schemas.openxmlformats.org/officeDocument/2006/relationships/notesMaster" Target="/ppt/notesMasters/notesMaster1.xml" Id="Rc6a59ea3dcca45f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f8f1437faf54e66" /><Relationship Type="http://schemas.openxmlformats.org/officeDocument/2006/relationships/notesMaster" Target="/ppt/notesMasters/notesMaster1.xml" Id="R5ee5e2f8137f488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763a65f47bf4bce" /><Relationship Type="http://schemas.openxmlformats.org/officeDocument/2006/relationships/notesMaster" Target="/ppt/notesMasters/notesMaster1.xml" Id="Re2dc5a05b77d40c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eb3b3f999fe4e8b" /><Relationship Type="http://schemas.openxmlformats.org/officeDocument/2006/relationships/notesMaster" Target="/ppt/notesMasters/notesMaster1.xml" Id="Radb12e09cf4e47d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666022f7c164030" /><Relationship Type="http://schemas.openxmlformats.org/officeDocument/2006/relationships/notesMaster" Target="/ppt/notesMasters/notesMaster1.xml" Id="R9328558b5bac434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770d370945f4094" /><Relationship Type="http://schemas.openxmlformats.org/officeDocument/2006/relationships/notesMaster" Target="/ppt/notesMasters/notesMaster1.xml" Id="R12a98c6180354d5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d233f1ef54c4139" /><Relationship Type="http://schemas.openxmlformats.org/officeDocument/2006/relationships/notesMaster" Target="/ppt/notesMasters/notesMaster1.xml" Id="Re516702d197b45c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ee9d0309e664739" /><Relationship Type="http://schemas.openxmlformats.org/officeDocument/2006/relationships/notesMaster" Target="/ppt/notesMasters/notesMaster1.xml" Id="R08ed729f698d4c8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2e2135ddfd44026" /><Relationship Type="http://schemas.openxmlformats.org/officeDocument/2006/relationships/notesMaster" Target="/ppt/notesMasters/notesMaster1.xml" Id="Rda5ecf6d8a074a4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fbbaca2382c49eb" /><Relationship Type="http://schemas.openxmlformats.org/officeDocument/2006/relationships/notesMaster" Target="/ppt/notesMasters/notesMaster1.xml" Id="R1566d3929e0b4f0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b384d4a3d76469f" /><Relationship Type="http://schemas.openxmlformats.org/officeDocument/2006/relationships/notesMaster" Target="/ppt/notesMasters/notesMaster1.xml" Id="R123c6034b2994a2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0b31b6f6f3d4d64" /><Relationship Type="http://schemas.openxmlformats.org/officeDocument/2006/relationships/notesMaster" Target="/ppt/notesMasters/notesMaster1.xml" Id="R13f7b03b83ef40b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63f831e082b4b9e" /><Relationship Type="http://schemas.openxmlformats.org/officeDocument/2006/relationships/notesMaster" Target="/ppt/notesMasters/notesMaster1.xml" Id="Re8f001a235d5471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2dd32760d654ed9" /><Relationship Type="http://schemas.openxmlformats.org/officeDocument/2006/relationships/notesMaster" Target="/ppt/notesMasters/notesMaster1.xml" Id="R94aa2e3b0a3742f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f12dc33eadf4741" /><Relationship Type="http://schemas.openxmlformats.org/officeDocument/2006/relationships/notesMaster" Target="/ppt/notesMasters/notesMaster1.xml" Id="R60417a6b408848d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c9510d238e74a84" /><Relationship Type="http://schemas.openxmlformats.org/officeDocument/2006/relationships/notesMaster" Target="/ppt/notesMasters/notesMaster1.xml" Id="R45ebe2694fa742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7779868f9941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2443ad29974fb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075d5865ed481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5b63d535dc45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4c6d5fd9ca470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7431e2a7bf4f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46E239-2C04-4D13-96BD-121D6F08C8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A9E64A9-C345-4824-9FD0-0D5E446ADA1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111FDE0-F72F-43AF-B8CD-49407EC3CD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76DECA-B8A7-410F-8640-050313205C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8A44C99-385A-47C8-84FF-B3A320C8E0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BAEC95A-DFA2-43CA-9379-22CADEB6BF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4F8837-D539-4A1E-96FD-FAD452F1A4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53ECC13-0DF3-48A1-9DC9-2F87630A80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C8BDFD-5C32-4906-96D7-A7C74037F3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F6E7EE6-8399-4BD8-9FD2-E10E1D8D12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4671310cfa4072" /><Relationship Type="http://schemas.openxmlformats.org/officeDocument/2006/relationships/slideLayout" Target="/ppt/slideLayouts/slideLayout1.xml" Id="R03a0c2bdd03f4780" /><Relationship Type="http://schemas.openxmlformats.org/officeDocument/2006/relationships/slideLayout" Target="/ppt/slideLayouts/slideLayout2.xml" Id="R3af1b5563be04983" /><Relationship Type="http://schemas.openxmlformats.org/officeDocument/2006/relationships/slideLayout" Target="/ppt/slideLayouts/slideLayout3.xml" Id="Rccae71168d474169" /><Relationship Type="http://schemas.openxmlformats.org/officeDocument/2006/relationships/slideLayout" Target="/ppt/slideLayouts/slideLayout4.xml" Id="Rab1be1ab7e4246cc" /><Relationship Type="http://schemas.openxmlformats.org/officeDocument/2006/relationships/slideLayout" Target="/ppt/slideLayouts/slideLayout5.xml" Id="Rbcaaa750dbaf43b4" /><Relationship Type="http://schemas.openxmlformats.org/officeDocument/2006/relationships/slideLayout" Target="/ppt/slideLayouts/slideLayout6.xml" Id="R22f51ace0bea40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a0c2bdd03f4780"/>
    <p:sldLayoutId xmlns:r="http://schemas.openxmlformats.org/officeDocument/2006/relationships" id="2147483650" r:id="R3af1b5563be04983"/>
    <p:sldLayoutId xmlns:r="http://schemas.openxmlformats.org/officeDocument/2006/relationships" id="2147483651" r:id="Rccae71168d474169"/>
    <p:sldLayoutId xmlns:r="http://schemas.openxmlformats.org/officeDocument/2006/relationships" id="2147483652" r:id="Rab1be1ab7e4246cc"/>
    <p:sldLayoutId xmlns:r="http://schemas.openxmlformats.org/officeDocument/2006/relationships" id="2147483653" r:id="Rbcaaa750dbaf43b4"/>
    <p:sldLayoutId xmlns:r="http://schemas.openxmlformats.org/officeDocument/2006/relationships" id="2147483654" r:id="R22f51ace0bea40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98bde7ce8c4d44" /><Relationship Type="http://schemas.openxmlformats.org/officeDocument/2006/relationships/notesSlide" Target="/ppt/notesSlides/notesSlide1.xml" Id="Rc410840691374c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25cb87d7494ba6" /><Relationship Type="http://schemas.openxmlformats.org/officeDocument/2006/relationships/notesSlide" Target="/ppt/notesSlides/notesSlide2.xml" Id="R98072ea9a78f43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ebae8d211a4511" /><Relationship Type="http://schemas.openxmlformats.org/officeDocument/2006/relationships/notesSlide" Target="/ppt/notesSlides/notesSlide3.xml" Id="Rda361e3c462b44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6590bc6b55493f" /><Relationship Type="http://schemas.openxmlformats.org/officeDocument/2006/relationships/notesSlide" Target="/ppt/notesSlides/notesSlide4.xml" Id="R80d533bd9eb843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cd1d733ad54775" /><Relationship Type="http://schemas.openxmlformats.org/officeDocument/2006/relationships/notesSlide" Target="/ppt/notesSlides/notesSlide5.xml" Id="R1f1972841a7545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0176674cf9488e" /><Relationship Type="http://schemas.openxmlformats.org/officeDocument/2006/relationships/notesSlide" Target="/ppt/notesSlides/notesSlide6.xml" Id="Reec3a3740d124a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679a49ccc24649" /><Relationship Type="http://schemas.openxmlformats.org/officeDocument/2006/relationships/notesSlide" Target="/ppt/notesSlides/notesSlide7.xml" Id="R31a8637a5d3246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4338602f8543a3" /><Relationship Type="http://schemas.openxmlformats.org/officeDocument/2006/relationships/notesSlide" Target="/ppt/notesSlides/notesSlide8.xml" Id="R2be30586ea384c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90211eefb94492" /><Relationship Type="http://schemas.openxmlformats.org/officeDocument/2006/relationships/notesSlide" Target="/ppt/notesSlides/notesSlide9.xml" Id="Rbc926221a32c47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6e3af911f94223" /><Relationship Type="http://schemas.openxmlformats.org/officeDocument/2006/relationships/notesSlide" Target="/ppt/notesSlides/notesSlide10.xml" Id="R986a6079212c4f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cbbbc414f54990" /><Relationship Type="http://schemas.openxmlformats.org/officeDocument/2006/relationships/notesSlide" Target="/ppt/notesSlides/notesSlide11.xml" Id="R2f73759c4e6243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50e5a6045d435f" /><Relationship Type="http://schemas.openxmlformats.org/officeDocument/2006/relationships/notesSlide" Target="/ppt/notesSlides/notesSlide12.xml" Id="R05987e07ad4b46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246c2b50df46c5" /><Relationship Type="http://schemas.openxmlformats.org/officeDocument/2006/relationships/notesSlide" Target="/ppt/notesSlides/notesSlide13.xml" Id="R9a8c3a94c0c44b6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f6ecec31c6429d" /><Relationship Type="http://schemas.openxmlformats.org/officeDocument/2006/relationships/notesSlide" Target="/ppt/notesSlides/notesSlide14.xml" Id="Ra03b292b94f04f2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9cc175c3ff498a" /><Relationship Type="http://schemas.openxmlformats.org/officeDocument/2006/relationships/notesSlide" Target="/ppt/notesSlides/notesSlide15.xml" Id="R2bfe726f451742f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43fd4f462d470d" /><Relationship Type="http://schemas.openxmlformats.org/officeDocument/2006/relationships/notesSlide" Target="/ppt/notesSlides/notesSlide16.xml" Id="R51b6c9d7e0eb4c6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b58ca2444443b7" /><Relationship Type="http://schemas.openxmlformats.org/officeDocument/2006/relationships/notesSlide" Target="/ppt/notesSlides/notesSlide17.xml" Id="R23e4e9e1b7ee4aa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1534fb897f46ee" /><Relationship Type="http://schemas.openxmlformats.org/officeDocument/2006/relationships/notesSlide" Target="/ppt/notesSlides/notesSlide18.xml" Id="Rac17d691757a401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92a9f9a0b24528" /><Relationship Type="http://schemas.openxmlformats.org/officeDocument/2006/relationships/notesSlide" Target="/ppt/notesSlides/notesSlide19.xml" Id="R2c06d097da1a405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3bbcf317a8428f" /><Relationship Type="http://schemas.openxmlformats.org/officeDocument/2006/relationships/notesSlide" Target="/ppt/notesSlides/notesSlide20.xml" Id="R3b270e5a52c5421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69e65717ea4add" /><Relationship Type="http://schemas.openxmlformats.org/officeDocument/2006/relationships/notesSlide" Target="/ppt/notesSlides/notesSlide21.xml" Id="R7fe92deef28142b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9d52090122416a" /><Relationship Type="http://schemas.openxmlformats.org/officeDocument/2006/relationships/notesSlide" Target="/ppt/notesSlides/notesSlide22.xml" Id="R022261257f6f430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783361a53347b3" /><Relationship Type="http://schemas.openxmlformats.org/officeDocument/2006/relationships/notesSlide" Target="/ppt/notesSlides/notesSlide23.xml" Id="Ree1e4bc6227f40b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853b00c7fc4d1e" /><Relationship Type="http://schemas.openxmlformats.org/officeDocument/2006/relationships/notesSlide" Target="/ppt/notesSlides/notesSlide24.xml" Id="R41b21cf8aa89421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b63b8664ff418e" /><Relationship Type="http://schemas.openxmlformats.org/officeDocument/2006/relationships/notesSlide" Target="/ppt/notesSlides/notesSlide25.xml" Id="R733beb5117d04f1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7f4f81b2fa470d" /><Relationship Type="http://schemas.openxmlformats.org/officeDocument/2006/relationships/notesSlide" Target="/ppt/notesSlides/notesSlide26.xml" Id="Rf14dd3c2d6cd4ff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d4688e55ab4517" /><Relationship Type="http://schemas.openxmlformats.org/officeDocument/2006/relationships/notesSlide" Target="/ppt/notesSlides/notesSlide27.xml" Id="R8ff2b0a255ab4ab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47e93422f54279" /><Relationship Type="http://schemas.openxmlformats.org/officeDocument/2006/relationships/notesSlide" Target="/ppt/notesSlides/notesSlide28.xml" Id="R9101fc3d58c8442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665c3dcf7049da" /><Relationship Type="http://schemas.openxmlformats.org/officeDocument/2006/relationships/notesSlide" Target="/ppt/notesSlides/notesSlide29.xml" Id="R1e9b82a7a4a043a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59c9a579254a9d" /><Relationship Type="http://schemas.openxmlformats.org/officeDocument/2006/relationships/notesSlide" Target="/ppt/notesSlides/notesSlide30.xml" Id="R29d71f08e98b43e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ce94d9b0f841c8" /><Relationship Type="http://schemas.openxmlformats.org/officeDocument/2006/relationships/notesSlide" Target="/ppt/notesSlides/notesSlide31.xml" Id="Ra64fa31e340d48b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77ca3c6e374bfe" /><Relationship Type="http://schemas.openxmlformats.org/officeDocument/2006/relationships/notesSlide" Target="/ppt/notesSlides/notesSlide32.xml" Id="Rc98fa6e339a14fa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3d8d6fde4446bc" /><Relationship Type="http://schemas.openxmlformats.org/officeDocument/2006/relationships/notesSlide" Target="/ppt/notesSlides/notesSlide33.xml" Id="Rc856c6a4db3c479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999c74a6c4476e" /><Relationship Type="http://schemas.openxmlformats.org/officeDocument/2006/relationships/notesSlide" Target="/ppt/notesSlides/notesSlide34.xml" Id="R75bcc451eb134b0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86bb5e8d874b20" /><Relationship Type="http://schemas.openxmlformats.org/officeDocument/2006/relationships/notesSlide" Target="/ppt/notesSlides/notesSlide35.xml" Id="R3ce6f7484ff545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B1422AC2-2E69-4030-B442-55C7B22C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07C5B0E-7E71-4723-ABC4-29AD68FD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2816D87-25D8-4EA6-9A61-0530D98A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0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00" b="0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00" b="0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00" b="0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00" b="0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00" b="0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00" b="0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00" b="0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00" b="0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00" b="0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Applications Using Scala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5C7C21F0-5CCA-4F4B-9B8B-8024D37C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FD965653-CA58-435B-8DFE-3F796EEF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2-hour course with one dataset, exercises, and solutions</a:t>
            </a:r>
          </a:p>
        </p:txBody>
      </p:sp>
      <p:sp>
        <p:nvSpPr>
          <p:cNvPr id="6" name="author">
            <a:extLst xmlns:a="http://schemas.openxmlformats.org/drawingml/2006/main">
              <a:ext uri="{FF2B5EF4-FFF2-40B4-BE49-F238E27FC236}">
                <a16:creationId xmlns:a16="http://schemas.microsoft.com/office/drawing/2014/main" id="{4C0AC61B-FA58-48A8-A9D4-F6B75A5D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Kodjo Klouvi</a:t>
            </a:r>
          </a:p>
        </p:txBody>
      </p:sp>
      <p:sp>
        <p:nvSpPr>
          <p:cNvPr id="7" name="email">
            <a:extLst xmlns:a="http://schemas.openxmlformats.org/drawingml/2006/main">
              <a:ext uri="{FF2B5EF4-FFF2-40B4-BE49-F238E27FC236}">
                <a16:creationId xmlns:a16="http://schemas.microsoft.com/office/drawing/2014/main" id="{B39C60C3-B1E7-4488-8197-89AD4E06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kodjo@osekoo.com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2A3DB2A-95E4-4D41-9E7B-7D0B2426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41DAE45E-4DD5-4F1C-A8F4-823918F3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 WITH SCALA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259742B-D932-4829-AB75-97E5D598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488617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62D1D391-0D17-4A9D-91E6-2164CA15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COURSE DESIGN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AA7CC6A-9F74-4DC5-B2FF-696FA647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Comparison and harmonization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94C38A0-9169-4D13-AE55-6B65AA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907FD05-2A1E-4EF3-995B-BD855594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A5B5FA2-0BC2-4B48-9BF5-28E3E098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85D075D-7292-4525-8DA8-B7C55836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EC333-547D-4EBE-847B-3C825BD04E28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238750"/>
                <a:gridCol w="5581650"/>
              </a:tblGrid>
              <a:tr h="50346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Original support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Harmonized support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23 short slides with general advice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timed 2-hour learning path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Examples are mostly conceptual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One generated commerce dataset throughout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measurable baseline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Plan and Spark UI metrics before and after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Hands-on section without detailed tasks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Five guided exercises plus an end-to-end challenge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Several ambiguous technical statements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Corrected guidance with explicit conditions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answer key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solution follows each exercise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note-background">
            <a:extLst xmlns:a="http://schemas.openxmlformats.org/drawingml/2006/main">
              <a:ext uri="{FF2B5EF4-FFF2-40B4-BE49-F238E27FC236}">
                <a16:creationId xmlns:a16="http://schemas.microsoft.com/office/drawing/2014/main" id="{B404A44A-A2D0-474F-B68E-139A8943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782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2EE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te-accent">
            <a:extLst xmlns:a="http://schemas.openxmlformats.org/drawingml/2006/main">
              <a:ext uri="{FF2B5EF4-FFF2-40B4-BE49-F238E27FC236}">
                <a16:creationId xmlns:a16="http://schemas.microsoft.com/office/drawing/2014/main" id="{AF256E71-2282-4609-B76D-71BF35B5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ote">
            <a:extLst xmlns:a="http://schemas.openxmlformats.org/drawingml/2006/main">
              <a:ext uri="{FF2B5EF4-FFF2-40B4-BE49-F238E27FC236}">
                <a16:creationId xmlns:a16="http://schemas.microsoft.com/office/drawing/2014/main" id="{A05B7EED-A717-498C-8F06-4A630882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24550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PRESERVED  </a:t>
            </a:r>
            <a:r>
              <a:rPr sz="120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The concise slide format, Scala focus, author identity, and original optimization themes remain central.</a:t>
            </a:r>
          </a:p>
        </p:txBody>
      </p:sp>
    </p:spTree>
    <p:extLst>
      <p:ext uri="{BB962C8B-B14F-4D97-AF65-F5344CB8AC3E}">
        <p14:creationId xmlns:p14="http://schemas.microsoft.com/office/powerpoint/2010/main" val="13466944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D1E340D6-DA70-4129-BB8F-32F6B798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COURSE PLAN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C728750-8975-4945-A9D2-FCF9A47F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Learning outcomes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D825D09-4AE4-4CF7-BA62-9278ED4E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219BBF5-E6F9-4900-896A-50A165A9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2141345-C311-4BA0-80DD-29A108AF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67DB121-344F-4418-A966-A378518E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0F3275F2-5357-473A-ADA6-E460BE00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Explain jobs, stages, tasks, partitions, and shuffle boundaries.</a:t>
            </a:r>
          </a:p>
        </p:txBody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BDE531BD-C323-45A0-8C1D-B3D2E47A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Read a formatted physical plan and connect it to Spark UI metrics.</a:t>
            </a:r>
          </a:p>
        </p:txBody>
      </p:sp>
      <p:sp>
        <p:nvSpPr>
          <p:cNvPr id="9" name="bullet-3">
            <a:extLst xmlns:a="http://schemas.openxmlformats.org/drawingml/2006/main">
              <a:ext uri="{FF2B5EF4-FFF2-40B4-BE49-F238E27FC236}">
                <a16:creationId xmlns:a16="http://schemas.microsoft.com/office/drawing/2014/main" id="{F2557903-161F-4415-96E7-F18DF4D8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Reduce scans, use efficient expressions, and keep large results off the driver.</a:t>
            </a:r>
          </a:p>
        </p:txBody>
      </p:sp>
      <p:sp>
        <p:nvSpPr>
          <p:cNvPr id="10" name="bullet-4">
            <a:extLst xmlns:a="http://schemas.openxmlformats.org/drawingml/2006/main">
              <a:ext uri="{FF2B5EF4-FFF2-40B4-BE49-F238E27FC236}">
                <a16:creationId xmlns:a16="http://schemas.microsoft.com/office/drawing/2014/main" id="{936B54DC-7BFE-401E-8477-FF037734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Choose partitions, join strategies, and persistence from evidence.</a:t>
            </a:r>
          </a:p>
        </p:txBody>
      </p:sp>
      <p:sp>
        <p:nvSpPr>
          <p:cNvPr id="11" name="bullet-5">
            <a:extLst xmlns:a="http://schemas.openxmlformats.org/drawingml/2006/main">
              <a:ext uri="{FF2B5EF4-FFF2-40B4-BE49-F238E27FC236}">
                <a16:creationId xmlns:a16="http://schemas.microsoft.com/office/drawing/2014/main" id="{14A53E74-3A9D-431C-95A6-69E99D24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Diagnose skew, small files, spill, and repeated computation.</a:t>
            </a:r>
          </a:p>
        </p:txBody>
      </p:sp>
      <p:sp>
        <p:nvSpPr>
          <p:cNvPr id="12" name="note-background">
            <a:extLst xmlns:a="http://schemas.openxmlformats.org/drawingml/2006/main">
              <a:ext uri="{FF2B5EF4-FFF2-40B4-BE49-F238E27FC236}">
                <a16:creationId xmlns:a16="http://schemas.microsoft.com/office/drawing/2014/main" id="{0B9B0F39-F51B-4C30-96F1-F6DE8FB7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782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2EE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te-accent">
            <a:extLst xmlns:a="http://schemas.openxmlformats.org/drawingml/2006/main">
              <a:ext uri="{FF2B5EF4-FFF2-40B4-BE49-F238E27FC236}">
                <a16:creationId xmlns:a16="http://schemas.microsoft.com/office/drawing/2014/main" id="{DFA9FB7B-4081-4B32-97D0-B97699E3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note">
            <a:extLst xmlns:a="http://schemas.openxmlformats.org/drawingml/2006/main">
              <a:ext uri="{FF2B5EF4-FFF2-40B4-BE49-F238E27FC236}">
                <a16:creationId xmlns:a16="http://schemas.microsoft.com/office/drawing/2014/main" id="{6EB7DDB3-725A-4489-A37D-89EB191D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24550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METHOD  </a:t>
            </a:r>
            <a:r>
              <a:rPr sz="120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Measure a baseline, change one factor, verify correctness, and compare the same metrics.</a:t>
            </a:r>
          </a:p>
        </p:txBody>
      </p:sp>
    </p:spTree>
    <p:extLst>
      <p:ext uri="{BB962C8B-B14F-4D97-AF65-F5344CB8AC3E}">
        <p14:creationId xmlns:p14="http://schemas.microsoft.com/office/powerpoint/2010/main" val="12264104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">
            <a:extLst xmlns:a="http://schemas.openxmlformats.org/drawingml/2006/main">
              <a:ext uri="{FF2B5EF4-FFF2-40B4-BE49-F238E27FC236}">
                <a16:creationId xmlns:a16="http://schemas.microsoft.com/office/drawing/2014/main" id="{72B995BD-6332-4FAB-9D65-BDE14822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COURSE PLAN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A7605E1-BC38-4FDE-8B21-5F060725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120-minute agenda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B30E715-8D58-4C90-9658-6301FCD1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791F6E9-1528-43BC-9A10-03D6C5F5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3283E30-255D-4617-BE1F-8888798E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B9A72C9-A791-4E4B-A6DB-4FF005FE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ED90A-FF55-4624-B253-B57ACA66F340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6477000"/>
                <a:gridCol w="2533650"/>
              </a:tblGrid>
              <a:tr h="45508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Time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Topic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Method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00:00 - 00:10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Dataset and baseline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Demo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00:10 - 00:30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Execution model and plans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Teach and exercise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00:30 - 00:50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Read less and use efficient APIs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Before and after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00:50 - 01:10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Partitions, joins, and skew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Demo and exercise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01:10 - 01:20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Break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Pause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01:20 - 01:40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Caching, files, and I/O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Teach and exercise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01:40 - 01:55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Spark UI and Scala tips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Diagnostic lab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01:55 - 02:00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Checklist and exit ticket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Review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80656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581EAC95-778F-45AF-ADB8-26E61342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CONTINUOUS CASE STUDY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C643153-6D9B-46CB-BE12-1F099F21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Course dataset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9F9F074-1D19-499C-8926-FF8E58C6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3850833-9E8C-40D0-87C9-703A0923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C816BE6-56A4-4A39-AAC0-A196BF17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6F3D042-EF93-432E-A210-A48F35E5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63332-8CCB-4312-8365-775CB5708376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43250"/>
                <a:gridCol w="3524250"/>
                <a:gridCol w="4152900"/>
              </a:tblGrid>
              <a:tr h="539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Path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Purpose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Deliberate characteristic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countries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Tiny dimension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Broadcast candidate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customers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Customer dimension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Segments and country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orders_partitioned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Main fact table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Partitioned by order_date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orders_small_files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Alternative order input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Fragmented files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events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Second fact table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Two actions for cache reuse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note-background">
            <a:extLst xmlns:a="http://schemas.openxmlformats.org/drawingml/2006/main">
              <a:ext uri="{FF2B5EF4-FFF2-40B4-BE49-F238E27FC236}">
                <a16:creationId xmlns:a16="http://schemas.microsoft.com/office/drawing/2014/main" id="{9537A0A1-0549-415E-A876-864A3F27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2EE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te-accent">
            <a:extLst xmlns:a="http://schemas.openxmlformats.org/drawingml/2006/main">
              <a:ext uri="{FF2B5EF4-FFF2-40B4-BE49-F238E27FC236}">
                <a16:creationId xmlns:a16="http://schemas.microsoft.com/office/drawing/2014/main" id="{2E3A2D28-9C70-4593-89F9-DFB8AE81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ote">
            <a:extLst xmlns:a="http://schemas.openxmlformats.org/drawingml/2006/main">
              <a:ext uri="{FF2B5EF4-FFF2-40B4-BE49-F238E27FC236}">
                <a16:creationId xmlns:a16="http://schemas.microsoft.com/office/drawing/2014/main" id="{187A0C30-A660-44A3-AF8F-5EE217F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29300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CLUE  </a:t>
            </a:r>
            <a:r>
              <a:rPr sz="120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customer_id 42 receives about 22% of orders. The wide debug_payload column is unnecessary for revenue analysis.</a:t>
            </a:r>
          </a:p>
        </p:txBody>
      </p:sp>
    </p:spTree>
    <p:extLst>
      <p:ext uri="{BB962C8B-B14F-4D97-AF65-F5344CB8AC3E}">
        <p14:creationId xmlns:p14="http://schemas.microsoft.com/office/powerpoint/2010/main" val="6205650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04EE294D-BC9D-4C6D-8A87-2967D01F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SETUP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AC4CBD5-5C06-49A4-8518-80DEEF71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Dataset generation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1EB2463-54F9-455B-849F-723D62F8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3A8D63C-F4FC-41FA-9C1F-114A258D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58698C8-F139-4CCA-9153-5F9A0563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1A36E25-11D1-4B13-8136-FB7193C4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7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3DF22A07-BCC7-4C03-B49B-55EF7449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106299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72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de">
            <a:extLst xmlns:a="http://schemas.openxmlformats.org/drawingml/2006/main">
              <a:ext uri="{FF2B5EF4-FFF2-40B4-BE49-F238E27FC236}">
                <a16:creationId xmlns:a16="http://schemas.microsoft.com/office/drawing/2014/main" id="{D0ED66F1-59CD-4FEE-A59E-CFC5A822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38325"/>
            <a:ext cx="10239375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$env:COURSE_DATA_PATH = "C:\\tmp\\spark-course-data"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$env:CUSTOMER_COUNT = "20000"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$env:ORDER_COUNT = "200000"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$env:EVENT_COUNT = "300000"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$env:NORMAL_PARTITIONS = "8"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$env:SMALL_FILE_PARTITIONS = "40"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spark-shell -i generate_course_data.scala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D0845FF2-024B-49EA-973E-67C8907C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The small profile validates every lab on a classroom laptop.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819CE81B-3F23-4FD5-B7DF-BC6D104A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Use the standard or cluster profile for visible distributed costs.</a:t>
            </a:r>
          </a:p>
        </p:txBody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41B9601F-7699-435E-A596-E4AF5EF7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Restart the Spark shell before recording baseline measurements.</a:t>
            </a:r>
          </a:p>
        </p:txBody>
      </p:sp>
    </p:spTree>
    <p:extLst>
      <p:ext uri="{BB962C8B-B14F-4D97-AF65-F5344CB8AC3E}">
        <p14:creationId xmlns:p14="http://schemas.microsoft.com/office/powerpoint/2010/main" val="14362849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BC93C6B2-60E9-4CE0-AAC5-285E1E83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SETUP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AB5A10C-6CC0-4498-968E-D715A048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Dataset loading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EE1351D-231E-4D17-A6E5-A788C991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56148A9-7875-4419-BF9C-8D80F90D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9DBCA14-A6DC-4D35-A8A8-B8BA17FE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78888C4-8EAA-438F-A5BC-54D4C71F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7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D6AA3807-E699-49D1-B570-52AC6108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106299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72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de">
            <a:extLst xmlns:a="http://schemas.openxmlformats.org/drawingml/2006/main">
              <a:ext uri="{FF2B5EF4-FFF2-40B4-BE49-F238E27FC236}">
                <a16:creationId xmlns:a16="http://schemas.microsoft.com/office/drawing/2014/main" id="{45DBDA4F-2EAE-4264-AF95-26728DD1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38325"/>
            <a:ext cx="102393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import org.apache.spark.sql.functions.*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import org.apache.spark.storage.StorageLevel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root = sys.env.getOrElse("COURSE_DATA_PATH", "./spark-course-data")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orders = spark.read.parquet(s"$root/orders_partitioned")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fragmentedOrders = spark.read.parquet(s"$root/orders_small_files")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customers = spark.read.parquet(s"$root/customers")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countries = spark.read.parquet(s"$root/countries")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events = spark.read.parquet(s"$root/events")</a:t>
            </a:r>
          </a:p>
        </p:txBody>
      </p:sp>
      <p:sp>
        <p:nvSpPr>
          <p:cNvPr id="9" name="note-background">
            <a:extLst xmlns:a="http://schemas.openxmlformats.org/drawingml/2006/main">
              <a:ext uri="{FF2B5EF4-FFF2-40B4-BE49-F238E27FC236}">
                <a16:creationId xmlns:a16="http://schemas.microsoft.com/office/drawing/2014/main" id="{1D0DD153-06CD-4010-B411-36AA409A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782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2EE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ote-accent">
            <a:extLst xmlns:a="http://schemas.openxmlformats.org/drawingml/2006/main">
              <a:ext uri="{FF2B5EF4-FFF2-40B4-BE49-F238E27FC236}">
                <a16:creationId xmlns:a16="http://schemas.microsoft.com/office/drawing/2014/main" id="{1853AB39-D79C-439A-9CE7-FEE2A531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ote">
            <a:extLst xmlns:a="http://schemas.openxmlformats.org/drawingml/2006/main">
              <a:ext uri="{FF2B5EF4-FFF2-40B4-BE49-F238E27FC236}">
                <a16:creationId xmlns:a16="http://schemas.microsoft.com/office/drawing/2014/main" id="{DB543998-644B-4FB9-B666-FA139FA7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24550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BASELINE  </a:t>
            </a:r>
            <a:r>
              <a:rPr sz="120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Record runtime, row count, scan bytes, shuffle read and write, spill, task count, and the slowest task.</a:t>
            </a:r>
          </a:p>
        </p:txBody>
      </p:sp>
    </p:spTree>
    <p:extLst>
      <p:ext uri="{BB962C8B-B14F-4D97-AF65-F5344CB8AC3E}">
        <p14:creationId xmlns:p14="http://schemas.microsoft.com/office/powerpoint/2010/main" val="21383774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52462522-618F-42CC-AC2C-153E4A65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FOUNDATIONS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4F600D2-0D3A-400E-B631-EB4E5337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Spark execution architecture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099128F-DAF7-4952-87BB-CA70B510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F80D8C1-3FCC-4EA5-892D-DA320245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6B01DAB-04CA-4C9A-BD21-17C02C44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5669D36-42EF-4453-9BEA-84916F3A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867E7-023B-4274-AF2D-909BB1ABECAD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6500"/>
                <a:gridCol w="4572000"/>
                <a:gridCol w="3771900"/>
              </a:tblGrid>
              <a:tr h="5905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Component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Responsibility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Optimization concern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Driver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Builds plans and schedules work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collect, metadata, large closures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Executor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Runs tasks and stores partitions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CPU, memory, GC, spill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Partition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Unit of distributed data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Balance and task size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Shuffle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Redistributes data by key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Network, disk, sort, serialization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note-background">
            <a:extLst xmlns:a="http://schemas.openxmlformats.org/drawingml/2006/main">
              <a:ext uri="{FF2B5EF4-FFF2-40B4-BE49-F238E27FC236}">
                <a16:creationId xmlns:a16="http://schemas.microsoft.com/office/drawing/2014/main" id="{815BDE1A-E487-4FA7-928C-4598B33B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2EE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te-accent">
            <a:extLst xmlns:a="http://schemas.openxmlformats.org/drawingml/2006/main">
              <a:ext uri="{FF2B5EF4-FFF2-40B4-BE49-F238E27FC236}">
                <a16:creationId xmlns:a16="http://schemas.microsoft.com/office/drawing/2014/main" id="{474A5432-C62D-4766-B0A6-1A63E3DE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ote">
            <a:extLst xmlns:a="http://schemas.openxmlformats.org/drawingml/2006/main">
              <a:ext uri="{FF2B5EF4-FFF2-40B4-BE49-F238E27FC236}">
                <a16:creationId xmlns:a16="http://schemas.microsoft.com/office/drawing/2014/main" id="{9C398782-C9A9-4DB6-9D5E-7077C044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29300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RULE  </a:t>
            </a:r>
            <a:r>
              <a:rPr sz="120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The driver coordinates work. Keep large datasets distributed across executors.</a:t>
            </a:r>
          </a:p>
        </p:txBody>
      </p:sp>
    </p:spTree>
    <p:extLst>
      <p:ext uri="{BB962C8B-B14F-4D97-AF65-F5344CB8AC3E}">
        <p14:creationId xmlns:p14="http://schemas.microsoft.com/office/powerpoint/2010/main" val="1257751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0F1E1629-D660-475C-965B-ECA3D62A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EXECUTION MODEL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A1795C9-B0D9-4B9E-9D31-A4B54F9E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Transformations and actions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4514286-3A96-4B4B-B808-0AABFD2D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7B0E111-F1B1-404E-A6EC-6C16ACDC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42B4DDD-8E3C-4186-8E29-E828DCFB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24BA472-CC32-4400-BC93-A25CD2A8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4DBF6-0206-4707-A762-FE542950AB34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2714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410200"/>
                <a:gridCol w="5410200"/>
              </a:tblGrid>
              <a:tr h="5429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Transformations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Actions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Build a lazy plan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Trigger execution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filter, select, join, groupBy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count, collect, show, write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Spark can optimize the expression tree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 action can recompute an uncached lineage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Usually no job at definition time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Jobs, stages, and tasks run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8A5A18FB-3A1D-41EA-AD43-7688CB22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10629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72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">
            <a:extLst xmlns:a="http://schemas.openxmlformats.org/drawingml/2006/main">
              <a:ext uri="{FF2B5EF4-FFF2-40B4-BE49-F238E27FC236}">
                <a16:creationId xmlns:a16="http://schemas.microsoft.com/office/drawing/2014/main" id="{97DEDE14-60C2-40CE-8C59-375C9C49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81575"/>
            <a:ext cx="1023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235"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paid = orders.filter($"status" === "PAID")  // lazy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rows = paid.count()                            // action</a:t>
            </a:r>
          </a:p>
        </p:txBody>
      </p:sp>
    </p:spTree>
    <p:extLst>
      <p:ext uri="{BB962C8B-B14F-4D97-AF65-F5344CB8AC3E}">
        <p14:creationId xmlns:p14="http://schemas.microsoft.com/office/powerpoint/2010/main" val="5524182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">
            <a:extLst xmlns:a="http://schemas.openxmlformats.org/drawingml/2006/main">
              <a:ext uri="{FF2B5EF4-FFF2-40B4-BE49-F238E27FC236}">
                <a16:creationId xmlns:a16="http://schemas.microsoft.com/office/drawing/2014/main" id="{36EDFBFD-FEB8-41ED-9B76-5BAC9449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EXECUTION MODEL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5C27F0A-6B1A-4525-9BA1-26CFADBD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Jobs, stages, tasks, and partitions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134A124-2D5D-468A-BD02-D8293031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9D59CAD-DFBA-46A0-8A9F-CFCA0D57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61D52DE-BF23-412A-8810-D78E5136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19A8FBC-5E71-473C-96B1-FF7F0849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24F6C-F438-4576-B1BC-9D67BE5D0879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95500"/>
                <a:gridCol w="4381500"/>
                <a:gridCol w="4343400"/>
              </a:tblGrid>
              <a:tr h="587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Concept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Meaning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Performance signal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Job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Work triggered by an action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Repeated actions may repeat lineage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Stage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Tasks between shuffle boundaries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Exchange often starts a new stage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Task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Work on one partition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Slowest task can delay the stage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Partition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Slice of distributed data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Too few or too many both cost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Shuffle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Cross-executor redistribution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Read, write, spill, fetch wait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44451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93FD02-B0E8-4FD7-8508-2A812E14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QUERY PLANS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C49327E-6749-46C0-A68D-8C030031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Logical and physical plans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D141957-AD7B-4C73-B8DE-F8327118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D3C0FFE-62DD-4CB1-B42D-CB29C513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5E67CE3-21B2-431B-8C0B-A6CB2C41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6CB078B-0910-4762-98D3-B4C0F2D1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7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BB0ACD80-96F9-4BA5-AF62-23E405C8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106299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72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de">
            <a:extLst xmlns:a="http://schemas.openxmlformats.org/drawingml/2006/main">
              <a:ext uri="{FF2B5EF4-FFF2-40B4-BE49-F238E27FC236}">
                <a16:creationId xmlns:a16="http://schemas.microsoft.com/office/drawing/2014/main" id="{D567BA6C-EE17-4D53-8164-5E061736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38325"/>
            <a:ext cx="1023937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q = orders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.filter($"status" === "PAID")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.join(customers, Seq("customer_id"))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.groupBy($"segment").agg(sum($"amount"))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q.explain("formatted")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q.explain("cost")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1299D5D3-0A08-4B9C-B8E1-FB6DC8B0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71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Scan: columns, partition filters, and pushed filters.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FA546B87-E0E2-4BC2-B839-D2C75574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862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Exchange: shuffle boundaries and partitioning.</a:t>
            </a:r>
          </a:p>
        </p:txBody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08CC22DF-F999-4273-96C0-81D44A16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Join: broadcast hash, sort merge, shuffled hash, or nested loop.</a:t>
            </a:r>
          </a:p>
        </p:txBody>
      </p:sp>
      <p:sp>
        <p:nvSpPr>
          <p:cNvPr id="12" name="bullet-4">
            <a:extLst xmlns:a="http://schemas.openxmlformats.org/drawingml/2006/main">
              <a:ext uri="{FF2B5EF4-FFF2-40B4-BE49-F238E27FC236}">
                <a16:creationId xmlns:a16="http://schemas.microsoft.com/office/drawing/2014/main" id="{7A19E61E-8EB7-4339-AE01-7706512D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149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Adaptive plan: initial and final operators may differ.</a:t>
            </a:r>
          </a:p>
        </p:txBody>
      </p:sp>
      <p:sp>
        <p:nvSpPr>
          <p:cNvPr id="13" name="note-background">
            <a:extLst xmlns:a="http://schemas.openxmlformats.org/drawingml/2006/main">
              <a:ext uri="{FF2B5EF4-FFF2-40B4-BE49-F238E27FC236}">
                <a16:creationId xmlns:a16="http://schemas.microsoft.com/office/drawing/2014/main" id="{9C0290AF-6EC9-41DF-9EB8-175387B1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57875"/>
            <a:ext cx="10782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2EE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note-accent">
            <a:extLst xmlns:a="http://schemas.openxmlformats.org/drawingml/2006/main">
              <a:ext uri="{FF2B5EF4-FFF2-40B4-BE49-F238E27FC236}">
                <a16:creationId xmlns:a16="http://schemas.microsoft.com/office/drawing/2014/main" id="{0ABE01DD-4CA3-474E-AFCE-1A51B979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57875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">
            <a:extLst xmlns:a="http://schemas.openxmlformats.org/drawingml/2006/main">
              <a:ext uri="{FF2B5EF4-FFF2-40B4-BE49-F238E27FC236}">
                <a16:creationId xmlns:a16="http://schemas.microsoft.com/office/drawing/2014/main" id="{7BF9F3F5-A93C-4406-A915-D7A4528C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72175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234"/>
          </a:bodyPr>
          <a:lstStyle xmlns:a="http://schemas.openxmlformats.org/drawingml/2006/main">
            <a:def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CORRECTION  </a:t>
            </a:r>
            <a:r>
              <a:rPr sz="120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explain(extended = true) shows parsed, analyzed, optimized, and physical plans. The formatted mode supports operator-level reading.</a:t>
            </a:r>
          </a:p>
        </p:txBody>
      </p:sp>
    </p:spTree>
    <p:extLst>
      <p:ext uri="{BB962C8B-B14F-4D97-AF65-F5344CB8AC3E}">
        <p14:creationId xmlns:p14="http://schemas.microsoft.com/office/powerpoint/2010/main" val="20271148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2C3F9A1B-4E39-4DBC-A881-B25C21AE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EXERCISE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0FAF240-345E-4BA5-8B31-91FA1FDB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Plan detective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75D9CC1-D6BF-4F4C-AC89-792AA7B7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99C0BA2-83CF-463B-89F9-ADC09408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C848943-5353-4F04-AFC4-455C6492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DDE10F7-2D80-466B-94F3-CAAEF407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7" name="exercise-banner">
            <a:extLst xmlns:a="http://schemas.openxmlformats.org/drawingml/2006/main">
              <a:ext uri="{FF2B5EF4-FFF2-40B4-BE49-F238E27FC236}">
                <a16:creationId xmlns:a16="http://schemas.microsoft.com/office/drawing/2014/main" id="{60250739-6126-4200-B8F1-843A3590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6E794645-2DD0-4C99-8D3E-DD045F71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EXERCISE 1  |  5 minutes</a:t>
            </a:r>
          </a:p>
        </p:txBody>
      </p:sp>
      <p:sp>
        <p:nvSpPr>
          <p:cNvPr id="9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854EAF5E-2926-4D22-98B3-23B78321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Inspect the January paid-order query before running it.</a:t>
            </a:r>
          </a:p>
        </p:txBody>
      </p:sp>
      <p:sp>
        <p:nvSpPr>
          <p:cNvPr id="10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A3753743-E694-4A86-8180-2E97E025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06299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72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de">
            <a:extLst xmlns:a="http://schemas.openxmlformats.org/drawingml/2006/main">
              <a:ext uri="{FF2B5EF4-FFF2-40B4-BE49-F238E27FC236}">
                <a16:creationId xmlns:a16="http://schemas.microsoft.com/office/drawing/2014/main" id="{D0EB20D2-1491-4E06-BBA2-187409B8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1023937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90"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januaryPaid = orders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.filter($"order_date".between("2026-01-01", "2026-01-31"))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.filter($"status" === "PAID")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.select("customer_id", "amount", "country")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januaryPaid.explain("formatted")</a:t>
            </a:r>
          </a:p>
        </p:txBody>
      </p:sp>
      <p:sp>
        <p:nvSpPr>
          <p:cNvPr id="12" name="bullet-1">
            <a:extLst xmlns:a="http://schemas.openxmlformats.org/drawingml/2006/main">
              <a:ext uri="{FF2B5EF4-FFF2-40B4-BE49-F238E27FC236}">
                <a16:creationId xmlns:a16="http://schemas.microsoft.com/office/drawing/2014/main" id="{60566D7B-CC2F-4A74-98DF-82EB81F2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Find the scan and ReadSchema.</a:t>
            </a:r>
          </a:p>
        </p:txBody>
      </p:sp>
      <p:sp>
        <p:nvSpPr>
          <p:cNvPr id="13" name="bullet-2">
            <a:extLst xmlns:a="http://schemas.openxmlformats.org/drawingml/2006/main">
              <a:ext uri="{FF2B5EF4-FFF2-40B4-BE49-F238E27FC236}">
                <a16:creationId xmlns:a16="http://schemas.microsoft.com/office/drawing/2014/main" id="{02DB9EE7-BF9C-4439-BB26-C8DE46B7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339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Find PartitionFilters and pushed filters.</a:t>
            </a:r>
          </a:p>
        </p:txBody>
      </p:sp>
      <p:sp>
        <p:nvSpPr>
          <p:cNvPr id="14" name="bullet-3">
            <a:extLst xmlns:a="http://schemas.openxmlformats.org/drawingml/2006/main">
              <a:ext uri="{FF2B5EF4-FFF2-40B4-BE49-F238E27FC236}">
                <a16:creationId xmlns:a16="http://schemas.microsoft.com/office/drawing/2014/main" id="{24E92BC2-E02A-48B7-AFD3-DC63D749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Predict the number of input partitions and scan files.</a:t>
            </a:r>
          </a:p>
        </p:txBody>
      </p:sp>
    </p:spTree>
    <p:extLst>
      <p:ext uri="{BB962C8B-B14F-4D97-AF65-F5344CB8AC3E}">
        <p14:creationId xmlns:p14="http://schemas.microsoft.com/office/powerpoint/2010/main" val="4082790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EC236D38-2D4B-4252-AC39-A53ACD94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SOLUTION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679C750-012E-474A-A61A-CA147BE2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Plan detective solution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23D1240-788E-4927-A9F9-A8452973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D99B912-1606-4180-B84E-A8DFA0B8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8382D3D-A9C4-42C6-9737-CEF01F0A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951E382-40A2-4EA4-BA9B-D062C7B4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7" name="solution-banner">
            <a:extLst xmlns:a="http://schemas.openxmlformats.org/drawingml/2006/main">
              <a:ext uri="{FF2B5EF4-FFF2-40B4-BE49-F238E27FC236}">
                <a16:creationId xmlns:a16="http://schemas.microsoft.com/office/drawing/2014/main" id="{F499EA0D-FBB9-4B56-9A87-426177B8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DC8D1644-C66A-484E-989C-54391B01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SOLUTION 1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F7AB5B41-3546-44CF-B7B8-294BC83B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ReadSchema should contain only the required columns and partition metadata.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BBB001D6-6303-4766-8006-F49AA4A4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The order_date condition should appear as a partition filter.</a:t>
            </a:r>
          </a:p>
        </p:txBody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FCF50AAB-9DD7-4518-8AF5-91298C36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The status condition may appear as a pushed filter depending on source capabilities.</a:t>
            </a:r>
          </a:p>
        </p:txBody>
      </p:sp>
      <p:sp>
        <p:nvSpPr>
          <p:cNvPr id="12" name="bullet-4">
            <a:extLst xmlns:a="http://schemas.openxmlformats.org/drawingml/2006/main">
              <a:ext uri="{FF2B5EF4-FFF2-40B4-BE49-F238E27FC236}">
                <a16:creationId xmlns:a16="http://schemas.microsoft.com/office/drawing/2014/main" id="{1EC8C889-091A-4355-A861-1B00273C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Confirm the final plan after execution because AQE can change operators.</a:t>
            </a:r>
          </a:p>
        </p:txBody>
      </p:sp>
    </p:spTree>
    <p:extLst>
      <p:ext uri="{BB962C8B-B14F-4D97-AF65-F5344CB8AC3E}">
        <p14:creationId xmlns:p14="http://schemas.microsoft.com/office/powerpoint/2010/main" val="6190944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7A09BC67-1565-4BC9-99A3-C03060C9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DATA REDUCTION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7CCED04-3CE6-46AC-8A3E-5C61A5C2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Read less data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1231C5E-3CC9-4EE7-807B-24DEBE51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E0A6935-E42C-4DBE-BC60-B5140B8F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855A96A-F80D-4674-86E8-97A41668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0A551A4-7524-4849-9089-83682869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9372FCC4-D188-48E4-A4B3-E58D1018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Select only columns required by the result.</a:t>
            </a:r>
          </a:p>
        </p:txBody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F011340A-A054-4DFB-8CEA-CF6504EB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145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Filter partition columns early so Spark can skip directories.</a:t>
            </a:r>
          </a:p>
        </p:txBody>
      </p:sp>
      <p:sp>
        <p:nvSpPr>
          <p:cNvPr id="9" name="bullet-3">
            <a:extLst xmlns:a="http://schemas.openxmlformats.org/drawingml/2006/main">
              <a:ext uri="{FF2B5EF4-FFF2-40B4-BE49-F238E27FC236}">
                <a16:creationId xmlns:a16="http://schemas.microsoft.com/office/drawing/2014/main" id="{229365EE-634E-4EF8-901E-352E077E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670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Prefer Parquet or ORC for analytical scans.</a:t>
            </a:r>
          </a:p>
        </p:txBody>
      </p:sp>
      <p:sp>
        <p:nvSpPr>
          <p:cNvPr id="10" name="bullet-4">
            <a:extLst xmlns:a="http://schemas.openxmlformats.org/drawingml/2006/main">
              <a:ext uri="{FF2B5EF4-FFF2-40B4-BE49-F238E27FC236}">
                <a16:creationId xmlns:a16="http://schemas.microsoft.com/office/drawing/2014/main" id="{75B70ADB-F3C8-4B02-9192-EFF4B6BA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194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Avoid high-cardinality storage partition columns.</a:t>
            </a:r>
          </a:p>
        </p:txBody>
      </p:sp>
      <p:sp>
        <p:nvSpPr>
          <p:cNvPr id="11" name="bullet-5">
            <a:extLst xmlns:a="http://schemas.openxmlformats.org/drawingml/2006/main">
              <a:ext uri="{FF2B5EF4-FFF2-40B4-BE49-F238E27FC236}">
                <a16:creationId xmlns:a16="http://schemas.microsoft.com/office/drawing/2014/main" id="{2CC60A63-E62C-429E-A5C6-7AB52416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Compact tiny files when scheduling and file-open overhead dominate.</a:t>
            </a:r>
          </a:p>
        </p:txBody>
      </p:sp>
      <p:sp>
        <p:nvSpPr>
          <p:cNvPr id="12" name="note-background">
            <a:extLst xmlns:a="http://schemas.openxmlformats.org/drawingml/2006/main">
              <a:ext uri="{FF2B5EF4-FFF2-40B4-BE49-F238E27FC236}">
                <a16:creationId xmlns:a16="http://schemas.microsoft.com/office/drawing/2014/main" id="{10121D95-0382-4175-9599-CFABAF40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782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2EE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te-accent">
            <a:extLst xmlns:a="http://schemas.openxmlformats.org/drawingml/2006/main">
              <a:ext uri="{FF2B5EF4-FFF2-40B4-BE49-F238E27FC236}">
                <a16:creationId xmlns:a16="http://schemas.microsoft.com/office/drawing/2014/main" id="{646C9BD2-E411-4E8A-A6D9-3D262EF8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note">
            <a:extLst xmlns:a="http://schemas.openxmlformats.org/drawingml/2006/main">
              <a:ext uri="{FF2B5EF4-FFF2-40B4-BE49-F238E27FC236}">
                <a16:creationId xmlns:a16="http://schemas.microsoft.com/office/drawing/2014/main" id="{94CCCB8A-D227-43C7-B388-7595E4CF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24550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091"/>
          </a:bodyPr>
          <a:lstStyle xmlns:a="http://schemas.openxmlformats.org/drawingml/2006/main">
            <a:def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DATASET CLUE  </a:t>
            </a:r>
            <a:r>
              <a:rPr sz="120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Selecting revenue columns removes debug_payload from ReadSchema. Filtering order_date demonstrates partition pruning.</a:t>
            </a:r>
          </a:p>
        </p:txBody>
      </p:sp>
    </p:spTree>
    <p:extLst>
      <p:ext uri="{BB962C8B-B14F-4D97-AF65-F5344CB8AC3E}">
        <p14:creationId xmlns:p14="http://schemas.microsoft.com/office/powerpoint/2010/main" val="20483577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BAAE292B-979C-4A45-BFA9-0CE56254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EFFICIENT APIS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E680726-8759-48CB-AEDF-AE67AEEC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Built-in expressions and UDFs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BE8E2C8-5D14-4135-A490-A52DE434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7E27B6B-F2E7-4F9C-8E7E-3704610F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68B850A-36FE-4941-B602-03E553DD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693CE44-B28D-40E4-AF87-0EE759AE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7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B2159CC4-209D-4ED8-909C-43057140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06299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72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de">
            <a:extLst xmlns:a="http://schemas.openxmlformats.org/drawingml/2006/main">
              <a:ext uri="{FF2B5EF4-FFF2-40B4-BE49-F238E27FC236}">
                <a16:creationId xmlns:a16="http://schemas.microsoft.com/office/drawing/2014/main" id="{69E516AC-81E4-423B-BF44-537F73DA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1023937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// Optimizer-visible expression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clean = customers.withColumn(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"email_domain", lower(element_at(split($"email", "@"), 2))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// Use a UDF only when built-in expressions cannot express the rule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domainUdf = udf((email: String) =&gt; email.split("@").last.toLowerCase)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35239595-F790-486E-B1CA-B50DCD8E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Built-in expressions remain visible to Catalyst.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53D20E0D-2E05-415C-8040-46E4B327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UDFs can restrict optimization and add call or serialization overhead.</a:t>
            </a:r>
          </a:p>
        </p:txBody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2D02772E-184E-4CCB-ADB5-D4234C7F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Measure typed Dataset and object-conversion costs when type safety matters.</a:t>
            </a:r>
          </a:p>
        </p:txBody>
      </p:sp>
    </p:spTree>
    <p:extLst>
      <p:ext uri="{BB962C8B-B14F-4D97-AF65-F5344CB8AC3E}">
        <p14:creationId xmlns:p14="http://schemas.microsoft.com/office/powerpoint/2010/main" val="10874652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3E7F94A6-3081-40B6-9471-3F3DAABA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EXERCISE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71A6319-6EC8-440D-938B-1402A060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Projection and filtering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E68D1C6-3E0C-4686-9CAD-A31B85CB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759F80A-7081-4ADD-A498-C0C9CBD7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309B2F0-8A68-48C7-979A-3603F3D9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9F20457-6761-4FA0-85A7-7649C847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7" name="exercise-banner">
            <a:extLst xmlns:a="http://schemas.openxmlformats.org/drawingml/2006/main">
              <a:ext uri="{FF2B5EF4-FFF2-40B4-BE49-F238E27FC236}">
                <a16:creationId xmlns:a16="http://schemas.microsoft.com/office/drawing/2014/main" id="{18E7B12E-F379-4839-A72A-8A090952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0D4F9AE0-D7D0-495F-B511-FE9D1578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EXERCISE 2  |  6 minutes</a:t>
            </a:r>
          </a:p>
        </p:txBody>
      </p:sp>
      <p:sp>
        <p:nvSpPr>
          <p:cNvPr id="9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E63AD0C5-6E2E-4A31-BFED-582B3971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Rewrite the pipeline so Spark carries only required data into the join.</a:t>
            </a:r>
          </a:p>
        </p:txBody>
      </p:sp>
      <p:sp>
        <p:nvSpPr>
          <p:cNvPr id="10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92D8B943-94BF-43E7-A2C1-E5EEF27E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06299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72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de">
            <a:extLst xmlns:a="http://schemas.openxmlformats.org/drawingml/2006/main">
              <a:ext uri="{FF2B5EF4-FFF2-40B4-BE49-F238E27FC236}">
                <a16:creationId xmlns:a16="http://schemas.microsoft.com/office/drawing/2014/main" id="{4A6C107A-E074-4C56-A8DC-2B223BFF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10239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result = orders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.join(customers, Seq("customer_id"))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.filter($"status" === "PAID")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.groupBy($"segment")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.agg(sum($"amount").as("revenue"))</a:t>
            </a:r>
          </a:p>
        </p:txBody>
      </p:sp>
      <p:sp>
        <p:nvSpPr>
          <p:cNvPr id="12" name="bullet-1">
            <a:extLst xmlns:a="http://schemas.openxmlformats.org/drawingml/2006/main">
              <a:ext uri="{FF2B5EF4-FFF2-40B4-BE49-F238E27FC236}">
                <a16:creationId xmlns:a16="http://schemas.microsoft.com/office/drawing/2014/main" id="{0A550C6D-87C2-4B52-BB09-ABC142D7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Identify required columns on both sides.</a:t>
            </a:r>
          </a:p>
        </p:txBody>
      </p:sp>
      <p:sp>
        <p:nvSpPr>
          <p:cNvPr id="13" name="bullet-2">
            <a:extLst xmlns:a="http://schemas.openxmlformats.org/drawingml/2006/main">
              <a:ext uri="{FF2B5EF4-FFF2-40B4-BE49-F238E27FC236}">
                <a16:creationId xmlns:a16="http://schemas.microsoft.com/office/drawing/2014/main" id="{CF980932-523D-44BE-95EA-954D9485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Move safe filters before the join.</a:t>
            </a:r>
          </a:p>
        </p:txBody>
      </p:sp>
      <p:sp>
        <p:nvSpPr>
          <p:cNvPr id="14" name="bullet-3">
            <a:extLst xmlns:a="http://schemas.openxmlformats.org/drawingml/2006/main">
              <a:ext uri="{FF2B5EF4-FFF2-40B4-BE49-F238E27FC236}">
                <a16:creationId xmlns:a16="http://schemas.microsoft.com/office/drawing/2014/main" id="{624EEB30-5094-4329-8B04-574B5A3A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State which plan and UI metrics should improve.</a:t>
            </a:r>
          </a:p>
        </p:txBody>
      </p:sp>
    </p:spTree>
    <p:extLst>
      <p:ext uri="{BB962C8B-B14F-4D97-AF65-F5344CB8AC3E}">
        <p14:creationId xmlns:p14="http://schemas.microsoft.com/office/powerpoint/2010/main" val="4093012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D19937C9-3474-4DC6-A854-A55DF349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SOLUTION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4E2C877-24D5-4893-BBA8-7C0898C0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Projection and filtering solution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EEEF23D-D611-4104-B08A-115BA6F8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46A9A58-2FF0-4890-8BAF-BD45F9EE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76D7872-58DF-48A7-AB02-E420DD87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2883C86-D20D-4D8E-9C57-C0B88877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7" name="solution-banner">
            <a:extLst xmlns:a="http://schemas.openxmlformats.org/drawingml/2006/main">
              <a:ext uri="{FF2B5EF4-FFF2-40B4-BE49-F238E27FC236}">
                <a16:creationId xmlns:a16="http://schemas.microsoft.com/office/drawing/2014/main" id="{E46F2B55-156E-4DFB-B98C-2588BFC1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A962C80A-267B-49E1-9FED-0B934EE2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SOLUTION 2</a:t>
            </a:r>
          </a:p>
        </p:txBody>
      </p:sp>
      <p:sp>
        <p:nvSpPr>
          <p:cNvPr id="9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2D8CE2A7-B887-4160-A479-38C50DAD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106299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72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de">
            <a:extLst xmlns:a="http://schemas.openxmlformats.org/drawingml/2006/main">
              <a:ext uri="{FF2B5EF4-FFF2-40B4-BE49-F238E27FC236}">
                <a16:creationId xmlns:a16="http://schemas.microsoft.com/office/drawing/2014/main" id="{5324A98D-E5CE-4138-9A45-DFABB1FB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102393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paid = orders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.filter($"status" === "PAID")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.select("customer_id", "amount")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segments = customers.select("customer_id", "segment")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result = paid.join(segments, Seq("customer_id"))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.groupBy($"segment")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.agg(sum($"amount").as("revenue"))</a:t>
            </a:r>
          </a:p>
        </p:txBody>
      </p:sp>
      <p:sp>
        <p:nvSpPr>
          <p:cNvPr id="11" name="note-background">
            <a:extLst xmlns:a="http://schemas.openxmlformats.org/drawingml/2006/main">
              <a:ext uri="{FF2B5EF4-FFF2-40B4-BE49-F238E27FC236}">
                <a16:creationId xmlns:a16="http://schemas.microsoft.com/office/drawing/2014/main" id="{7BCF31E1-5409-48A7-831E-8AABEFF9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782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2EE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ote-accent">
            <a:extLst xmlns:a="http://schemas.openxmlformats.org/drawingml/2006/main">
              <a:ext uri="{FF2B5EF4-FFF2-40B4-BE49-F238E27FC236}">
                <a16:creationId xmlns:a16="http://schemas.microsoft.com/office/drawing/2014/main" id="{279950AC-89E2-4890-AEE2-476BC619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te">
            <a:extLst xmlns:a="http://schemas.openxmlformats.org/drawingml/2006/main">
              <a:ext uri="{FF2B5EF4-FFF2-40B4-BE49-F238E27FC236}">
                <a16:creationId xmlns:a16="http://schemas.microsoft.com/office/drawing/2014/main" id="{3C0E3878-E13F-40AB-9564-AB70C658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24550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VERIFY  </a:t>
            </a:r>
            <a:r>
              <a:rPr sz="120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Compare scan bytes, shuffle volume, join input rows, runtime, and revenue totals. The output must remain identical.</a:t>
            </a:r>
          </a:p>
        </p:txBody>
      </p:sp>
    </p:spTree>
    <p:extLst>
      <p:ext uri="{BB962C8B-B14F-4D97-AF65-F5344CB8AC3E}">
        <p14:creationId xmlns:p14="http://schemas.microsoft.com/office/powerpoint/2010/main" val="13752945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BDA5C86D-881F-4AB4-A622-12EAEAF1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DISTRIBUTED WORK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2CCC42A-3AA0-4235-9FDB-C815BC9D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Partitions and shuffle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2666D92-18D1-4198-B791-6324AC81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5BEC7C5-75D1-44BE-834F-9556E37F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19FC434-86CD-496B-AF95-18131997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C9717E3-B0FE-48C3-93BD-2C374DF3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F22F9-4885-4C07-88FA-87E020505867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67000"/>
                <a:gridCol w="3905250"/>
                <a:gridCol w="4248150"/>
              </a:tblGrid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Operation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Behavior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Typical use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repartition(n)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Full redistribution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Rebalance before wide work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repartition(n, key)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Hash distribution by key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Align work around a join or aggregate key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coalesce(n)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Usually reduces without full shuffle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Reduce tiny partitions after filtering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partitionBy on write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Creates a storage layout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Enable downstream pruning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note-background">
            <a:extLst xmlns:a="http://schemas.openxmlformats.org/drawingml/2006/main">
              <a:ext uri="{FF2B5EF4-FFF2-40B4-BE49-F238E27FC236}">
                <a16:creationId xmlns:a16="http://schemas.microsoft.com/office/drawing/2014/main" id="{64AB8899-876A-4235-A5CA-F3F3C4AF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2EE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te-accent">
            <a:extLst xmlns:a="http://schemas.openxmlformats.org/drawingml/2006/main">
              <a:ext uri="{FF2B5EF4-FFF2-40B4-BE49-F238E27FC236}">
                <a16:creationId xmlns:a16="http://schemas.microsoft.com/office/drawing/2014/main" id="{09D60A2E-FC3E-43F5-8363-5DE59F26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ote">
            <a:extLst xmlns:a="http://schemas.openxmlformats.org/drawingml/2006/main">
              <a:ext uri="{FF2B5EF4-FFF2-40B4-BE49-F238E27FC236}">
                <a16:creationId xmlns:a16="http://schemas.microsoft.com/office/drawing/2014/main" id="{FEF9E486-97E8-4686-AB52-8A4B0585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29300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NO MAGIC NUMBER  </a:t>
            </a:r>
            <a:r>
              <a:rPr sz="120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Choose partition counts from data size, cluster cores, task duration, skew, and target file size.</a:t>
            </a:r>
          </a:p>
        </p:txBody>
      </p:sp>
    </p:spTree>
    <p:extLst>
      <p:ext uri="{BB962C8B-B14F-4D97-AF65-F5344CB8AC3E}">
        <p14:creationId xmlns:p14="http://schemas.microsoft.com/office/powerpoint/2010/main" val="35959493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77EBBFC4-1D75-4D37-8775-106F2766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DISTRIBUTED WORK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7BADEAF-D32F-4971-A5C5-5748A750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Join strategies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181718D-7F90-4AC2-8AE0-F3522174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6269278-95F5-4DAE-90F8-1A84C666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8C3B238-2706-4CAC-B35B-DFFD5F10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D25C355-9645-40FA-B0BC-2286EEBE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7FA81-06FC-464A-A105-7A338F07BF3B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29000"/>
                <a:gridCol w="3810000"/>
                <a:gridCol w="3581400"/>
              </a:tblGrid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Situation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Likely strategy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Evidence to check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Tiny dimension and large fact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Broadcast hash join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Broadcast size and executor memory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Two large equality inputs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Sort merge or shuffled hash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Shuffle volume and balance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Very frequent keys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AQE skew handling or selective salting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Slowest task versus median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Non-equality or cross condition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Possible nested-loop behavior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Cardinality explosion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D50DD234-1DDB-4917-9AE7-25A588C8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0629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2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">
            <a:extLst xmlns:a="http://schemas.openxmlformats.org/drawingml/2006/main">
              <a:ext uri="{FF2B5EF4-FFF2-40B4-BE49-F238E27FC236}">
                <a16:creationId xmlns:a16="http://schemas.microsoft.com/office/drawing/2014/main" id="{1E6AA309-1A95-4544-94B6-E58A615B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29200"/>
            <a:ext cx="1023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806"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activeCountries = countries.filter($"active" === true)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enriched = orders.join(broadcast(activeCountries),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$"country" === $"country_code")</a:t>
            </a:r>
          </a:p>
        </p:txBody>
      </p:sp>
    </p:spTree>
    <p:extLst>
      <p:ext uri="{BB962C8B-B14F-4D97-AF65-F5344CB8AC3E}">
        <p14:creationId xmlns:p14="http://schemas.microsoft.com/office/powerpoint/2010/main" val="117469235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6E54AE91-0299-4F3A-B9CA-5CC466BD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EXERCISE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7F953A6-AF5F-431C-8AFF-EE21D511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Broadcast comparison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420EC32-6FDD-4744-855E-B5176C0F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57B68EB-9536-41EF-A56E-992D9377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7D718C9-71F4-4F86-90C4-860FC39C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CCBD000-0E0E-49D7-99DB-EC8910FC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7" name="exercise-banner">
            <a:extLst xmlns:a="http://schemas.openxmlformats.org/drawingml/2006/main">
              <a:ext uri="{FF2B5EF4-FFF2-40B4-BE49-F238E27FC236}">
                <a16:creationId xmlns:a16="http://schemas.microsoft.com/office/drawing/2014/main" id="{22C6E7A7-3F89-4F73-AD57-9E2C8B2B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3BA43239-AF4C-47B3-94F5-39F45EB5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EXERCISE 3  |  8 minutes</a:t>
            </a:r>
          </a:p>
        </p:txBody>
      </p:sp>
      <p:sp>
        <p:nvSpPr>
          <p:cNvPr id="9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7A5F8D83-65AA-42E0-AE23-11E8C29C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Compare the normal join with an explicit broadcast of countries.</a:t>
            </a:r>
          </a:p>
        </p:txBody>
      </p:sp>
      <p:sp>
        <p:nvSpPr>
          <p:cNvPr id="10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DF2915B4-E165-41A5-827C-0E3EC23E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106299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72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de">
            <a:extLst xmlns:a="http://schemas.openxmlformats.org/drawingml/2006/main">
              <a:ext uri="{FF2B5EF4-FFF2-40B4-BE49-F238E27FC236}">
                <a16:creationId xmlns:a16="http://schemas.microsoft.com/office/drawing/2014/main" id="{8995CA66-AD9F-411B-99E7-5D01B347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76575"/>
            <a:ext cx="10239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normalJoin = orders.join(countries, $"country" === $"country_code")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broadcastJoin = orders.join(broadcast(countries),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$"country" === $"country_code")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normalJoin.explain("formatted")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broadcastJoin.explain("formatted")</a:t>
            </a:r>
          </a:p>
        </p:txBody>
      </p:sp>
      <p:sp>
        <p:nvSpPr>
          <p:cNvPr id="12" name="bullet-1">
            <a:extLst xmlns:a="http://schemas.openxmlformats.org/drawingml/2006/main">
              <a:ext uri="{FF2B5EF4-FFF2-40B4-BE49-F238E27FC236}">
                <a16:creationId xmlns:a16="http://schemas.microsoft.com/office/drawing/2014/main" id="{B760FBB2-673B-4B89-8CED-6F0226E4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243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Record the physical join operator.</a:t>
            </a:r>
          </a:p>
        </p:txBody>
      </p:sp>
      <p:sp>
        <p:nvSpPr>
          <p:cNvPr id="13" name="bullet-2">
            <a:extLst xmlns:a="http://schemas.openxmlformats.org/drawingml/2006/main">
              <a:ext uri="{FF2B5EF4-FFF2-40B4-BE49-F238E27FC236}">
                <a16:creationId xmlns:a16="http://schemas.microsoft.com/office/drawing/2014/main" id="{FA7EBBA6-0A59-403D-8CE7-91D754FF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387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Compare shuffle read and write.</a:t>
            </a:r>
          </a:p>
        </p:txBody>
      </p:sp>
      <p:sp>
        <p:nvSpPr>
          <p:cNvPr id="14" name="bullet-3">
            <a:extLst xmlns:a="http://schemas.openxmlformats.org/drawingml/2006/main">
              <a:ext uri="{FF2B5EF4-FFF2-40B4-BE49-F238E27FC236}">
                <a16:creationId xmlns:a16="http://schemas.microsoft.com/office/drawing/2014/main" id="{B84FB55B-8B4F-470A-9AA3-E1D852AF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530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Explain why broadcasting customers may be unsafe at larger scale.</a:t>
            </a:r>
          </a:p>
        </p:txBody>
      </p:sp>
    </p:spTree>
    <p:extLst>
      <p:ext uri="{BB962C8B-B14F-4D97-AF65-F5344CB8AC3E}">
        <p14:creationId xmlns:p14="http://schemas.microsoft.com/office/powerpoint/2010/main" val="152043061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5E132A77-2543-4E13-866B-90A08ED0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SOLUTION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A20533A-20E4-4F09-9949-2A2EA806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Broadcast comparison solution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1D521AD-A7E3-4270-BD33-9B0A5FC1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B224D5-0D55-4F86-8650-ABD37373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12D1244-9A02-48C9-8018-BCCA6E78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F79168D-C1B5-439C-B83B-B2DD31F1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7" name="solution-banner">
            <a:extLst xmlns:a="http://schemas.openxmlformats.org/drawingml/2006/main">
              <a:ext uri="{FF2B5EF4-FFF2-40B4-BE49-F238E27FC236}">
                <a16:creationId xmlns:a16="http://schemas.microsoft.com/office/drawing/2014/main" id="{09F1A285-5A6E-4609-B39E-668740FB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8686EA8A-CF42-44FC-907B-ED74A9FB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SOLUTION 3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8E1713E5-3E7B-4365-8FD8-75EE5F51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countries should produce BroadcastExchange and BroadcastHashJoin when the hint is accepted.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6E21237C-1A3F-472F-B870-5B90EF3D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The large orders side should avoid a join shuffle.</a:t>
            </a:r>
          </a:p>
        </p:txBody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4555EEB6-A2D5-478F-861E-BEC3BBB8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A broadcast copy lives on every executor, so memory limits the safe size.</a:t>
            </a:r>
          </a:p>
        </p:txBody>
      </p:sp>
      <p:sp>
        <p:nvSpPr>
          <p:cNvPr id="12" name="bullet-4">
            <a:extLst xmlns:a="http://schemas.openxmlformats.org/drawingml/2006/main">
              <a:ext uri="{FF2B5EF4-FFF2-40B4-BE49-F238E27FC236}">
                <a16:creationId xmlns:a16="http://schemas.microsoft.com/office/drawing/2014/main" id="{014312D4-D607-4CF6-9C56-787C58AD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Prefer credible statistics and Spark's automatic choice when possible.</a:t>
            </a:r>
          </a:p>
        </p:txBody>
      </p:sp>
    </p:spTree>
    <p:extLst>
      <p:ext uri="{BB962C8B-B14F-4D97-AF65-F5344CB8AC3E}">
        <p14:creationId xmlns:p14="http://schemas.microsoft.com/office/powerpoint/2010/main" val="8638457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5AB9DDE3-CD4B-44C4-A89E-2FA896DD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DISTRIBUTED WORK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BEF5B84-0048-4B76-AF28-3767C94A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Data skew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B854F82-204E-4257-9F22-354B545C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CC6A4F2-6822-49DC-A512-5BAC1D87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2A1299C-F39A-482F-9954-10ECE373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D8E3C69-0727-4D38-9373-467B21A2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7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3A9DD4FC-057C-4172-941A-74B3EAC6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629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de">
            <a:extLst xmlns:a="http://schemas.openxmlformats.org/drawingml/2006/main">
              <a:ext uri="{FF2B5EF4-FFF2-40B4-BE49-F238E27FC236}">
                <a16:creationId xmlns:a16="http://schemas.microsoft.com/office/drawing/2014/main" id="{D5158B63-AB16-49EC-AFDF-38E5F9D4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39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503"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orders.groupBy($"customer_id").count()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.orderBy(desc("count"))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.show(10, truncate = false)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27FEDEF6-A925-4ABA-9DDF-D9E2E231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A skewed key creates an oversized partition and a long-running task.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37F8BD43-7DA1-4234-B906-08002ACA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Compare maximum task duration and input with the median.</a:t>
            </a:r>
          </a:p>
        </p:txBody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6992D2FC-9C1F-404F-A8B8-D04F1B47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AQE can split skewed shuffle partitions at runtime.</a:t>
            </a:r>
          </a:p>
        </p:txBody>
      </p:sp>
      <p:sp>
        <p:nvSpPr>
          <p:cNvPr id="12" name="bullet-4">
            <a:extLst xmlns:a="http://schemas.openxmlformats.org/drawingml/2006/main">
              <a:ext uri="{FF2B5EF4-FFF2-40B4-BE49-F238E27FC236}">
                <a16:creationId xmlns:a16="http://schemas.microsoft.com/office/drawing/2014/main" id="{209461ED-C50C-476B-BDEB-7A478365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Process exceptional keys separately or salt only confirmed hot keys.</a:t>
            </a:r>
          </a:p>
        </p:txBody>
      </p:sp>
      <p:sp>
        <p:nvSpPr>
          <p:cNvPr id="13" name="note-background">
            <a:extLst xmlns:a="http://schemas.openxmlformats.org/drawingml/2006/main">
              <a:ext uri="{FF2B5EF4-FFF2-40B4-BE49-F238E27FC236}">
                <a16:creationId xmlns:a16="http://schemas.microsoft.com/office/drawing/2014/main" id="{B5347551-D545-4245-80BF-55061D73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782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2EE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note-accent">
            <a:extLst xmlns:a="http://schemas.openxmlformats.org/drawingml/2006/main">
              <a:ext uri="{FF2B5EF4-FFF2-40B4-BE49-F238E27FC236}">
                <a16:creationId xmlns:a16="http://schemas.microsoft.com/office/drawing/2014/main" id="{57A56902-5A96-4262-8945-CE57DD65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">
            <a:extLst xmlns:a="http://schemas.openxmlformats.org/drawingml/2006/main">
              <a:ext uri="{FF2B5EF4-FFF2-40B4-BE49-F238E27FC236}">
                <a16:creationId xmlns:a16="http://schemas.microsoft.com/office/drawing/2014/main" id="{D798817D-B31B-4EE6-A36C-2DF0C1D0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24550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KNOWN HOT KEY  </a:t>
            </a:r>
            <a:r>
              <a:rPr sz="120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customer_id 42 appears in about 22% of generated orders.</a:t>
            </a:r>
          </a:p>
        </p:txBody>
      </p:sp>
    </p:spTree>
    <p:extLst>
      <p:ext uri="{BB962C8B-B14F-4D97-AF65-F5344CB8AC3E}">
        <p14:creationId xmlns:p14="http://schemas.microsoft.com/office/powerpoint/2010/main" val="150120380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B15D7880-EB75-4526-9BFD-BC43BBF0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EXERCISE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3B31134-E6C8-4709-9537-6FB98C71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Skew investigation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E1E0EA5-13FD-4694-823C-C77E8A5E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29BDCC5-293A-4D44-BE4D-561122F6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FB14086-0DF2-49E9-B3F9-EFD7EE09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6B37686-2FE9-4C11-B632-81F036DD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7" name="exercise-banner">
            <a:extLst xmlns:a="http://schemas.openxmlformats.org/drawingml/2006/main">
              <a:ext uri="{FF2B5EF4-FFF2-40B4-BE49-F238E27FC236}">
                <a16:creationId xmlns:a16="http://schemas.microsoft.com/office/drawing/2014/main" id="{CDC808CC-58D2-4A9A-8E56-6D940235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0320D0A5-B9E5-480D-8748-2757AB71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EXERCISE 4  |  6 minutes</a:t>
            </a:r>
          </a:p>
        </p:txBody>
      </p:sp>
      <p:sp>
        <p:nvSpPr>
          <p:cNvPr id="9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FA7FF082-C2B6-4D40-A8D3-4CFB995B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Prove that the workload is skewed before proposing a fix.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1CE8F5C6-36D3-4E3D-B801-7508E22B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Run the customer frequency query and identify the top key.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B97D475C-3F60-4B41-95F2-743AB7C6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Run a customer aggregation and open stage details.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78503B14-99BB-4BE0-B5A0-0DA58452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433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Record median and maximum task duration, shuffle read, and spill.</a:t>
            </a:r>
          </a:p>
        </p:txBody>
      </p:sp>
      <p:sp>
        <p:nvSpPr>
          <p:cNvPr id="13" name="bullet-4">
            <a:extLst xmlns:a="http://schemas.openxmlformats.org/drawingml/2006/main">
              <a:ext uri="{FF2B5EF4-FFF2-40B4-BE49-F238E27FC236}">
                <a16:creationId xmlns:a16="http://schemas.microsoft.com/office/drawing/2014/main" id="{969380E5-E87D-4D39-94E6-16B6FE27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Check the final adaptive plan for skew handling.</a:t>
            </a:r>
          </a:p>
        </p:txBody>
      </p:sp>
      <p:sp>
        <p:nvSpPr>
          <p:cNvPr id="14" name="bullet-5">
            <a:extLst xmlns:a="http://schemas.openxmlformats.org/drawingml/2006/main">
              <a:ext uri="{FF2B5EF4-FFF2-40B4-BE49-F238E27FC236}">
                <a16:creationId xmlns:a16="http://schemas.microsoft.com/office/drawing/2014/main" id="{09BE8CFB-72E4-4D13-921E-3DE898B3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11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Propose the least complex fix supported by evidence.</a:t>
            </a:r>
          </a:p>
        </p:txBody>
      </p:sp>
    </p:spTree>
    <p:extLst>
      <p:ext uri="{BB962C8B-B14F-4D97-AF65-F5344CB8AC3E}">
        <p14:creationId xmlns:p14="http://schemas.microsoft.com/office/powerpoint/2010/main" val="62031759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8415B0A0-AD4A-42F7-A87F-902990D9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SOLUTION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CE166C-C8D6-4E5B-83B1-42205452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Skew investigation solution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55CE416-4CDF-48F9-85EF-EBDD3125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EBBB256-5AF8-4CAF-B5CB-7155D0EC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1112126-712E-428C-BF30-45BEC724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A6865ED-4140-4178-BE99-4D4B27BD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7" name="solution-banner">
            <a:extLst xmlns:a="http://schemas.openxmlformats.org/drawingml/2006/main">
              <a:ext uri="{FF2B5EF4-FFF2-40B4-BE49-F238E27FC236}">
                <a16:creationId xmlns:a16="http://schemas.microsoft.com/office/drawing/2014/main" id="{941983DB-0FA3-45F7-94F5-0BAF0FA7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A34E8CD2-8454-4A28-B633-C16E3B39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SOLUTION 4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471EEFD9-3D8F-4C7D-A404-9DB4901D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Key 42 should dominate the frequency distribution.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5B40791D-B44E-4797-B32B-DCBAC270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432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One or a few reduce tasks may process much more input than the median.</a:t>
            </a:r>
          </a:p>
        </p:txBody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4B09B780-972F-4308-A58D-CD80E266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Keep AQE enabled and inspect whether Spark splits the skewed partition.</a:t>
            </a:r>
          </a:p>
        </p:txBody>
      </p:sp>
      <p:sp>
        <p:nvSpPr>
          <p:cNvPr id="12" name="bullet-4">
            <a:extLst xmlns:a="http://schemas.openxmlformats.org/drawingml/2006/main">
              <a:ext uri="{FF2B5EF4-FFF2-40B4-BE49-F238E27FC236}">
                <a16:creationId xmlns:a16="http://schemas.microsoft.com/office/drawing/2014/main" id="{94A32398-17E6-4629-91B0-EFD7AD44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67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If AQE is insufficient, isolate key 42 when business logic allows.</a:t>
            </a:r>
          </a:p>
        </p:txBody>
      </p:sp>
      <p:sp>
        <p:nvSpPr>
          <p:cNvPr id="13" name="bullet-5">
            <a:extLst xmlns:a="http://schemas.openxmlformats.org/drawingml/2006/main">
              <a:ext uri="{FF2B5EF4-FFF2-40B4-BE49-F238E27FC236}">
                <a16:creationId xmlns:a16="http://schemas.microsoft.com/office/drawing/2014/main" id="{BA4E2DBD-AFEF-4CCE-B23C-1E05BE1D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Adding executors alone does not split one oversized partition.</a:t>
            </a:r>
          </a:p>
        </p:txBody>
      </p:sp>
    </p:spTree>
    <p:extLst>
      <p:ext uri="{BB962C8B-B14F-4D97-AF65-F5344CB8AC3E}">
        <p14:creationId xmlns:p14="http://schemas.microsoft.com/office/powerpoint/2010/main" val="182298012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470B9CF1-6689-4882-A7DE-F4C4FC72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CACHE AND STORAGE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6B7E3E4-A929-4EE7-AE73-41D3B101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Persistence decisions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C724710-2734-4850-9A9E-7EC999AA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331FC69-7E2B-4424-A1E6-B6EBCFA4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3594A74-A9BB-499E-AE16-61C71216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237EC3E-A58E-476B-86CD-A49989A2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29BC6-93A2-4E48-8CAF-83DA06F83EB8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2667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410200"/>
                <a:gridCol w="5410200"/>
              </a:tblGrid>
              <a:tr h="5334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Cache when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Avoid caching when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 same expensive result feeds several actions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 data is used once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Recomputation is expensive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 source scan is cheap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 persisted form fits the storage budget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It causes eviction, GC, or spill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stable snapshot is acceptable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Every action must read new source data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C228050E-4C55-4B4F-B319-C07768C6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06299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72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">
            <a:extLst xmlns:a="http://schemas.openxmlformats.org/drawingml/2006/main">
              <a:ext uri="{FF2B5EF4-FFF2-40B4-BE49-F238E27FC236}">
                <a16:creationId xmlns:a16="http://schemas.microsoft.com/office/drawing/2014/main" id="{E8B610FB-EC4C-4FF2-9C44-F9B964AF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33950"/>
            <a:ext cx="102393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031"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base = events.filter($"event_date" &gt;= "2026-10-15")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.persist(StorageLevel.MEMORY_AND_DISK)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// two actions use base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base.unpersist()</a:t>
            </a:r>
          </a:p>
        </p:txBody>
      </p:sp>
    </p:spTree>
    <p:extLst>
      <p:ext uri="{BB962C8B-B14F-4D97-AF65-F5344CB8AC3E}">
        <p14:creationId xmlns:p14="http://schemas.microsoft.com/office/powerpoint/2010/main" val="156837200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29A1A0D3-1389-4925-80B9-962175AE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EXERCISE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0B495CD-5C3C-43E0-8042-98AA9252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Cache reuse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278FB93-7C48-47C7-8516-BE246155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4F9D618-7202-4E05-98F9-D4EA7CF4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AFE0DEE-D31C-45C4-A5C7-89C54128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7D32D69-DBED-4F8A-966A-A55F9BC6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  <p:sp>
        <p:nvSpPr>
          <p:cNvPr id="7" name="exercise-banner">
            <a:extLst xmlns:a="http://schemas.openxmlformats.org/drawingml/2006/main">
              <a:ext uri="{FF2B5EF4-FFF2-40B4-BE49-F238E27FC236}">
                <a16:creationId xmlns:a16="http://schemas.microsoft.com/office/drawing/2014/main" id="{F3656C11-6434-4A23-AF0F-7E152CB4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83375D49-B59D-4780-B120-A2A8AB44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EXERCISE 5  |  6 minutes</a:t>
            </a:r>
          </a:p>
        </p:txBody>
      </p:sp>
      <p:sp>
        <p:nvSpPr>
          <p:cNvPr id="9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8BA66829-2129-4DBE-905F-906F6A33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Measure two actions on the same filtered event data with and without persistence.</a:t>
            </a:r>
          </a:p>
        </p:txBody>
      </p:sp>
      <p:sp>
        <p:nvSpPr>
          <p:cNvPr id="10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E355E826-C9A3-4B94-AE7E-63DEBF62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06299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72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de">
            <a:extLst xmlns:a="http://schemas.openxmlformats.org/drawingml/2006/main">
              <a:ext uri="{FF2B5EF4-FFF2-40B4-BE49-F238E27FC236}">
                <a16:creationId xmlns:a16="http://schemas.microsoft.com/office/drawing/2014/main" id="{F8E6D032-4CE5-4E9A-A943-55C13FE6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10239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base = events.filter($"event_type" =!= "view")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base.groupBy("event_type").count().count()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base.groupBy("user_id").agg(sum("value")).count()</a:t>
            </a:r>
          </a:p>
        </p:txBody>
      </p:sp>
      <p:sp>
        <p:nvSpPr>
          <p:cNvPr id="12" name="bullet-1">
            <a:extLst xmlns:a="http://schemas.openxmlformats.org/drawingml/2006/main">
              <a:ext uri="{FF2B5EF4-FFF2-40B4-BE49-F238E27FC236}">
                <a16:creationId xmlns:a16="http://schemas.microsoft.com/office/drawing/2014/main" id="{70063044-BF1A-4F50-8922-836C6BE0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Record both action times without caching.</a:t>
            </a:r>
          </a:p>
        </p:txBody>
      </p:sp>
      <p:sp>
        <p:nvSpPr>
          <p:cNvPr id="13" name="bullet-2">
            <a:extLst xmlns:a="http://schemas.openxmlformats.org/drawingml/2006/main">
              <a:ext uri="{FF2B5EF4-FFF2-40B4-BE49-F238E27FC236}">
                <a16:creationId xmlns:a16="http://schemas.microsoft.com/office/drawing/2014/main" id="{4E4E0028-36DD-4344-952D-46AD1675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Persist base and repeat in a fresh run.</a:t>
            </a:r>
          </a:p>
        </p:txBody>
      </p:sp>
      <p:sp>
        <p:nvSpPr>
          <p:cNvPr id="14" name="bullet-3">
            <a:extLst xmlns:a="http://schemas.openxmlformats.org/drawingml/2006/main">
              <a:ext uri="{FF2B5EF4-FFF2-40B4-BE49-F238E27FC236}">
                <a16:creationId xmlns:a16="http://schemas.microsoft.com/office/drawing/2014/main" id="{8C90B7D3-D9FB-44BA-839E-BB7DC2BD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Separate cache population time from reuse time.</a:t>
            </a:r>
          </a:p>
        </p:txBody>
      </p:sp>
      <p:sp>
        <p:nvSpPr>
          <p:cNvPr id="15" name="bullet-4">
            <a:extLst xmlns:a="http://schemas.openxmlformats.org/drawingml/2006/main">
              <a:ext uri="{FF2B5EF4-FFF2-40B4-BE49-F238E27FC236}">
                <a16:creationId xmlns:a16="http://schemas.microsoft.com/office/drawing/2014/main" id="{319134AD-E182-4A75-AD4D-9024DBD3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Inspect the Storage tab and unpersist afterward.</a:t>
            </a:r>
          </a:p>
        </p:txBody>
      </p:sp>
    </p:spTree>
    <p:extLst>
      <p:ext uri="{BB962C8B-B14F-4D97-AF65-F5344CB8AC3E}">
        <p14:creationId xmlns:p14="http://schemas.microsoft.com/office/powerpoint/2010/main" val="45101986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60CCE91C-EC41-4BC0-A92B-984E883F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SOLUTION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FDDC1D9-CA0B-40DD-A294-FD822454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Cache reuse solution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F767A35-949F-41C8-AEB0-21270D2F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BCA9039-3E53-405C-B514-5695733D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5AC51A1-28A5-410A-9B01-D01DB25C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7A7FFA6-AC6F-4E20-B5B5-D75011B3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7" name="solution-banner">
            <a:extLst xmlns:a="http://schemas.openxmlformats.org/drawingml/2006/main">
              <a:ext uri="{FF2B5EF4-FFF2-40B4-BE49-F238E27FC236}">
                <a16:creationId xmlns:a16="http://schemas.microsoft.com/office/drawing/2014/main" id="{C8E4C691-B7CE-4FFB-8388-6F2031D8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B71B10EC-6278-4870-A7CF-AFB98451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SOLUTION 5</a:t>
            </a:r>
          </a:p>
        </p:txBody>
      </p:sp>
      <p:sp>
        <p:nvSpPr>
          <p:cNvPr id="9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E3D7FD90-4CAE-4FA2-9CCC-7B392F10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0629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72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de">
            <a:extLst xmlns:a="http://schemas.openxmlformats.org/drawingml/2006/main">
              <a:ext uri="{FF2B5EF4-FFF2-40B4-BE49-F238E27FC236}">
                <a16:creationId xmlns:a16="http://schemas.microsoft.com/office/drawing/2014/main" id="{31C86949-B65E-4179-80C8-66884E12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52700"/>
            <a:ext cx="102393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base = events.filter($"event_type" =!= "view")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.persist(StorageLevel.MEMORY_AND_DISK)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base.groupBy("event_type").count().count() // populates cache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base.groupBy("user_id").agg(sum("value")).count() // reuses cache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base.unpersist()</a:t>
            </a:r>
          </a:p>
        </p:txBody>
      </p:sp>
      <p:sp>
        <p:nvSpPr>
          <p:cNvPr id="11" name="note-background">
            <a:extLst xmlns:a="http://schemas.openxmlformats.org/drawingml/2006/main">
              <a:ext uri="{FF2B5EF4-FFF2-40B4-BE49-F238E27FC236}">
                <a16:creationId xmlns:a16="http://schemas.microsoft.com/office/drawing/2014/main" id="{5C93C7AB-D1EC-4C5E-BE16-E06C2F6B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782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2EE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ote-accent">
            <a:extLst xmlns:a="http://schemas.openxmlformats.org/drawingml/2006/main">
              <a:ext uri="{FF2B5EF4-FFF2-40B4-BE49-F238E27FC236}">
                <a16:creationId xmlns:a16="http://schemas.microsoft.com/office/drawing/2014/main" id="{355DF968-F0D0-42BF-98BC-B9E2F04A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te">
            <a:extLst xmlns:a="http://schemas.openxmlformats.org/drawingml/2006/main">
              <a:ext uri="{FF2B5EF4-FFF2-40B4-BE49-F238E27FC236}">
                <a16:creationId xmlns:a16="http://schemas.microsoft.com/office/drawing/2014/main" id="{DA95A75F-E191-4F00-8793-202F08B5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24550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INTERPRETATION  </a:t>
            </a:r>
            <a:r>
              <a:rPr sz="120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Compare total time for both actions. Caching can lose when reuse does not repay population and storage costs.</a:t>
            </a:r>
          </a:p>
        </p:txBody>
      </p:sp>
    </p:spTree>
    <p:extLst>
      <p:ext uri="{BB962C8B-B14F-4D97-AF65-F5344CB8AC3E}">
        <p14:creationId xmlns:p14="http://schemas.microsoft.com/office/powerpoint/2010/main" val="51159365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CE3936E0-F217-4A3B-8E43-3F935D84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STORAGE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9A81AF7-F94C-4928-9249-BD5C549E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Small files and output layout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3CBF3C2-1471-4812-8F63-5C67DC9B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3B20775-A864-4CDB-B746-19320DF4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B1B29EE-05C4-47F2-8DCF-23A65BBC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C195E17-8EBF-455C-BB2F-6D539C3B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3BA90-2813-4843-80ED-74880207D8C3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238500"/>
                <a:gridCol w="3714750"/>
                <a:gridCol w="3867150"/>
              </a:tblGrid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Symptom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Many tiny input files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Listing, open, and scheduling overhead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Compact to a sensible file size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repartition(1)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One bottleneck task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Write distributed output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High-cardinality partitionBy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Many directories and tiny files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Choose a lower-cardinality filter column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Unpartitioned date scans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Reads unrelated dates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Partition by a commonly filtered date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6A5FAD94-E1ED-4E70-9EF2-FEC91A34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106299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72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">
            <a:extLst xmlns:a="http://schemas.openxmlformats.org/drawingml/2006/main">
              <a:ext uri="{FF2B5EF4-FFF2-40B4-BE49-F238E27FC236}">
                <a16:creationId xmlns:a16="http://schemas.microsoft.com/office/drawing/2014/main" id="{EBD8AD8D-616B-4F89-AE16-28AE4C21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76825"/>
            <a:ext cx="10239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938"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fragmentedOrders.coalesce(32)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.write.mode("overwrite").parquet(s"$root/orders_compacted")</a:t>
            </a:r>
          </a:p>
        </p:txBody>
      </p:sp>
    </p:spTree>
    <p:extLst>
      <p:ext uri="{BB962C8B-B14F-4D97-AF65-F5344CB8AC3E}">
        <p14:creationId xmlns:p14="http://schemas.microsoft.com/office/powerpoint/2010/main" val="123934504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4D3ECC99-20D5-4726-B70F-09174E25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OBSERVABILITY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993180B-EA49-4E5A-A187-8EE83C39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Spark UI diagnostic workflow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FE1FEF4-EB38-4B0C-9C50-7E29E366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37978CD-2805-45B4-A1B2-B30D6DB0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93D505F-45D5-49DA-AB96-814CC701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6E81F67-9C29-4C9F-9A45-086DED6E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1560C-FE80-4974-BC3E-CF08DF1759E9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86000"/>
                <a:gridCol w="4572000"/>
                <a:gridCol w="3962400"/>
              </a:tblGrid>
              <a:tr h="50346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Area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Look for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Question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SQL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Physical plan and runtime statistics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Which operator dominates?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Jobs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Repeated actions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Is upstream work recomputed?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Stages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Shuffle, spill, task distribution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Is the stage skewed?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Executors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GC, input, failures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Is pressure isolated or global?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Storage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Cached size and fraction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Does persistence pay?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Environment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Effective properties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Did the intended setting apply?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note-background">
            <a:extLst xmlns:a="http://schemas.openxmlformats.org/drawingml/2006/main">
              <a:ext uri="{FF2B5EF4-FFF2-40B4-BE49-F238E27FC236}">
                <a16:creationId xmlns:a16="http://schemas.microsoft.com/office/drawing/2014/main" id="{45FDEE45-E5D3-43A6-B955-F562F777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782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2EE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te-accent">
            <a:extLst xmlns:a="http://schemas.openxmlformats.org/drawingml/2006/main">
              <a:ext uri="{FF2B5EF4-FFF2-40B4-BE49-F238E27FC236}">
                <a16:creationId xmlns:a16="http://schemas.microsoft.com/office/drawing/2014/main" id="{8D4E4E45-8ED6-43DC-B552-A5B4E494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ote">
            <a:extLst xmlns:a="http://schemas.openxmlformats.org/drawingml/2006/main">
              <a:ext uri="{FF2B5EF4-FFF2-40B4-BE49-F238E27FC236}">
                <a16:creationId xmlns:a16="http://schemas.microsoft.com/office/drawing/2014/main" id="{F4B1A88C-E1A4-42F9-A775-6FEE84EB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24550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HABIT  </a:t>
            </a:r>
            <a:r>
              <a:rPr sz="120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Compare the slowest task with the median. Averages hide skew and stragglers.</a:t>
            </a:r>
          </a:p>
        </p:txBody>
      </p:sp>
    </p:spTree>
    <p:extLst>
      <p:ext uri="{BB962C8B-B14F-4D97-AF65-F5344CB8AC3E}">
        <p14:creationId xmlns:p14="http://schemas.microsoft.com/office/powerpoint/2010/main" val="76536779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AFD6C7E-6F0C-453E-A66E-4D2D767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SCALA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B44B143-A875-45AF-BFC6-E8D97B26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Scala-specific Spark tips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33AC205-E6BD-4CCC-BFB9-64B72B6A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BC37A9C-A86F-40A1-979B-934F1931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5438AB6-253F-47F6-AEF3-61E83EB6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C43007A-952E-46F8-B8B0-27414F4F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30</a:t>
            </a:r>
          </a:p>
        </p:txBody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C1B40203-7DC6-48E0-8E8E-556968DB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Prefer DataFrame and SQL expressions for relational processing.</a:t>
            </a:r>
          </a:p>
        </p:txBody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8898EC44-582D-4EF3-B6A2-07D47242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Use typed Datasets when type safety justifies conversion costs.</a:t>
            </a:r>
          </a:p>
        </p:txBody>
      </p:sp>
      <p:sp>
        <p:nvSpPr>
          <p:cNvPr id="9" name="bullet-3">
            <a:extLst xmlns:a="http://schemas.openxmlformats.org/drawingml/2006/main">
              <a:ext uri="{FF2B5EF4-FFF2-40B4-BE49-F238E27FC236}">
                <a16:creationId xmlns:a16="http://schemas.microsoft.com/office/drawing/2014/main" id="{5DA27702-E08C-4446-9C0E-F60A48BF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For RDD aggregation, prefer reduceByKey or aggregateByKey over groupByKey.</a:t>
            </a:r>
          </a:p>
        </p:txBody>
      </p:sp>
      <p:sp>
        <p:nvSpPr>
          <p:cNvPr id="10" name="bullet-4">
            <a:extLst xmlns:a="http://schemas.openxmlformats.org/drawingml/2006/main">
              <a:ext uri="{FF2B5EF4-FFF2-40B4-BE49-F238E27FC236}">
                <a16:creationId xmlns:a16="http://schemas.microsoft.com/office/drawing/2014/main" id="{8EA51862-41AF-48D7-A655-CF8DDCB3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Use mapPartitions to amortize expensive client setup.</a:t>
            </a:r>
          </a:p>
        </p:txBody>
      </p:sp>
      <p:sp>
        <p:nvSpPr>
          <p:cNvPr id="11" name="bullet-5">
            <a:extLst xmlns:a="http://schemas.openxmlformats.org/drawingml/2006/main">
              <a:ext uri="{FF2B5EF4-FFF2-40B4-BE49-F238E27FC236}">
                <a16:creationId xmlns:a16="http://schemas.microsoft.com/office/drawing/2014/main" id="{E61BB662-5956-40CE-BF44-6A91D1EB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Keep closures small and broadcast genuinely small lookup data.</a:t>
            </a:r>
          </a:p>
        </p:txBody>
      </p:sp>
      <p:sp>
        <p:nvSpPr>
          <p:cNvPr id="12" name="bullet-6">
            <a:extLst xmlns:a="http://schemas.openxmlformats.org/drawingml/2006/main">
              <a:ext uri="{FF2B5EF4-FFF2-40B4-BE49-F238E27FC236}">
                <a16:creationId xmlns:a16="http://schemas.microsoft.com/office/drawing/2014/main" id="{68F6723D-8633-4F57-A66D-88351E4E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Design external side effects for task retries and speculative execution.</a:t>
            </a:r>
          </a:p>
        </p:txBody>
      </p:sp>
      <p:sp>
        <p:nvSpPr>
          <p:cNvPr id="13" name="note-background">
            <a:extLst xmlns:a="http://schemas.openxmlformats.org/drawingml/2006/main">
              <a:ext uri="{FF2B5EF4-FFF2-40B4-BE49-F238E27FC236}">
                <a16:creationId xmlns:a16="http://schemas.microsoft.com/office/drawing/2014/main" id="{80753326-B4A3-4AE5-BE86-1E957F3B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782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2EE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note-accent">
            <a:extLst xmlns:a="http://schemas.openxmlformats.org/drawingml/2006/main">
              <a:ext uri="{FF2B5EF4-FFF2-40B4-BE49-F238E27FC236}">
                <a16:creationId xmlns:a16="http://schemas.microsoft.com/office/drawing/2014/main" id="{72166563-4153-46D4-B06D-573308CA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">
            <a:extLst xmlns:a="http://schemas.openxmlformats.org/drawingml/2006/main">
              <a:ext uri="{FF2B5EF4-FFF2-40B4-BE49-F238E27FC236}">
                <a16:creationId xmlns:a16="http://schemas.microsoft.com/office/drawing/2014/main" id="{950F9EE6-6032-4740-B631-6BA18B4E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24550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678"/>
          </a:bodyPr>
          <a:lstStyle xmlns:a="http://schemas.openxmlformats.org/drawingml/2006/main">
            <a:def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CORRECTION  </a:t>
            </a:r>
            <a:r>
              <a:rPr sz="120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Scala can avoid Python boundary costs in some workloads, but language choice alone does not guarantee a faster Spark job.</a:t>
            </a:r>
          </a:p>
        </p:txBody>
      </p:sp>
    </p:spTree>
    <p:extLst>
      <p:ext uri="{BB962C8B-B14F-4D97-AF65-F5344CB8AC3E}">
        <p14:creationId xmlns:p14="http://schemas.microsoft.com/office/powerpoint/2010/main" val="9866843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E4DB3DF2-1C6F-4DF5-9DC4-F4735B00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EXERCISE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04EEB7D-232E-45D7-9A97-D117F14D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End-to-end optimization challenge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9D32532-D93E-4EDF-AC7E-FA86B471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58A922D-6F40-4C5E-9255-24857793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FF59D50-8FD6-49C2-9A1E-6BAD01E2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F0C693-6EC7-4730-895C-BF517A99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31</a:t>
            </a:r>
          </a:p>
        </p:txBody>
      </p:sp>
      <p:sp>
        <p:nvSpPr>
          <p:cNvPr id="7" name="exercise-banner">
            <a:extLst xmlns:a="http://schemas.openxmlformats.org/drawingml/2006/main">
              <a:ext uri="{FF2B5EF4-FFF2-40B4-BE49-F238E27FC236}">
                <a16:creationId xmlns:a16="http://schemas.microsoft.com/office/drawing/2014/main" id="{CA7B720C-6675-43C6-A2CC-5C37E3C2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6AA8A46A-4423-488E-BB93-1023B3F5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EXERCISE 6  |  10 minutes</a:t>
            </a:r>
          </a:p>
        </p:txBody>
      </p:sp>
      <p:sp>
        <p:nvSpPr>
          <p:cNvPr id="9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C62007B8-34E7-4993-8546-AF20672C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Produce paid revenue by customer segment from the generated dataset.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6FB1BF1A-85F6-4063-8B6C-A17AB878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Create a baseline and validate row counts and revenue totals.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4465E0D7-BC87-47EC-85F2-1D4346B8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Reduce columns and rows before the join.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E556A5C8-7828-4189-865E-1C47777D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433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Inspect the join strategy, shuffle volume, and task distribution.</a:t>
            </a:r>
          </a:p>
        </p:txBody>
      </p:sp>
      <p:sp>
        <p:nvSpPr>
          <p:cNvPr id="13" name="bullet-4">
            <a:extLst xmlns:a="http://schemas.openxmlformats.org/drawingml/2006/main">
              <a:ext uri="{FF2B5EF4-FFF2-40B4-BE49-F238E27FC236}">
                <a16:creationId xmlns:a16="http://schemas.microsoft.com/office/drawing/2014/main" id="{908401CA-ECEC-48AA-A583-0C7A3583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Address skew only if metrics show a critical straggler.</a:t>
            </a:r>
          </a:p>
        </p:txBody>
      </p:sp>
      <p:sp>
        <p:nvSpPr>
          <p:cNvPr id="14" name="bullet-5">
            <a:extLst xmlns:a="http://schemas.openxmlformats.org/drawingml/2006/main">
              <a:ext uri="{FF2B5EF4-FFF2-40B4-BE49-F238E27FC236}">
                <a16:creationId xmlns:a16="http://schemas.microsoft.com/office/drawing/2014/main" id="{9BB1DA03-845D-4DB3-9426-4D506C4D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11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Write distributed Parquet output and report before-and-after evidence.</a:t>
            </a:r>
          </a:p>
        </p:txBody>
      </p:sp>
      <p:sp>
        <p:nvSpPr>
          <p:cNvPr id="15" name="note-background">
            <a:extLst xmlns:a="http://schemas.openxmlformats.org/drawingml/2006/main">
              <a:ext uri="{FF2B5EF4-FFF2-40B4-BE49-F238E27FC236}">
                <a16:creationId xmlns:a16="http://schemas.microsoft.com/office/drawing/2014/main" id="{31C67F4B-2596-4943-B170-B3D7C0C6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782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2EE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ote-accent">
            <a:extLst xmlns:a="http://schemas.openxmlformats.org/drawingml/2006/main">
              <a:ext uri="{FF2B5EF4-FFF2-40B4-BE49-F238E27FC236}">
                <a16:creationId xmlns:a16="http://schemas.microsoft.com/office/drawing/2014/main" id="{0EC112B7-4B26-4929-8BA0-DE19405A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ote">
            <a:extLst xmlns:a="http://schemas.openxmlformats.org/drawingml/2006/main">
              <a:ext uri="{FF2B5EF4-FFF2-40B4-BE49-F238E27FC236}">
                <a16:creationId xmlns:a16="http://schemas.microsoft.com/office/drawing/2014/main" id="{D527A0BA-E2A0-406C-B572-03E48F08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24550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DELIVERABLE  </a:t>
            </a:r>
            <a:r>
              <a:rPr sz="120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Provide the final Scala pipeline, formatted plan, five key metrics, and a short explanation of each change.</a:t>
            </a:r>
          </a:p>
        </p:txBody>
      </p:sp>
    </p:spTree>
    <p:extLst>
      <p:ext uri="{BB962C8B-B14F-4D97-AF65-F5344CB8AC3E}">
        <p14:creationId xmlns:p14="http://schemas.microsoft.com/office/powerpoint/2010/main" val="111835639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BD9262F1-14E4-4E65-8738-C8A4B417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SOLUTION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5DDE7EA-7F75-4F25-AE2D-7567C424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End-to-end challenge solution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0DCB9FF-5116-49BB-941C-A43F29AA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B937436-BCE3-4102-AC5B-15C27485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6DC311A-385B-46B0-B3A6-4DE64CD1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8E45616-0369-47C8-AE22-42228DE1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32</a:t>
            </a:r>
          </a:p>
        </p:txBody>
      </p:sp>
      <p:sp>
        <p:nvSpPr>
          <p:cNvPr id="7" name="solution-banner">
            <a:extLst xmlns:a="http://schemas.openxmlformats.org/drawingml/2006/main">
              <a:ext uri="{FF2B5EF4-FFF2-40B4-BE49-F238E27FC236}">
                <a16:creationId xmlns:a16="http://schemas.microsoft.com/office/drawing/2014/main" id="{593657C4-C47C-4A50-A8AA-6966B541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F19817F5-14EC-4419-BBF7-8791A966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SOLUTION 6</a:t>
            </a:r>
          </a:p>
        </p:txBody>
      </p:sp>
      <p:sp>
        <p:nvSpPr>
          <p:cNvPr id="9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C55082ED-0251-479E-A134-969910DC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106299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72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de">
            <a:extLst xmlns:a="http://schemas.openxmlformats.org/drawingml/2006/main">
              <a:ext uri="{FF2B5EF4-FFF2-40B4-BE49-F238E27FC236}">
                <a16:creationId xmlns:a16="http://schemas.microsoft.com/office/drawing/2014/main" id="{DD3B8CD2-BDA9-4B61-AF07-D12FEF9F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102393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paid = orders.filter($"status" === "PAID")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.select("customer_id", "amount")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segments = customers.select("customer_id", "segment")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val revenue = paid.join(segments, Seq("customer_id"))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.groupBy("segment").agg(sum("amount").as("revenue"))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revenue.explain("formatted")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revenue.write.mode("overwrite").parquet(s"$root/revenue_by_segment")</a:t>
            </a:r>
          </a:p>
        </p:txBody>
      </p:sp>
      <p:sp>
        <p:nvSpPr>
          <p:cNvPr id="11" name="note-background">
            <a:extLst xmlns:a="http://schemas.openxmlformats.org/drawingml/2006/main">
              <a:ext uri="{FF2B5EF4-FFF2-40B4-BE49-F238E27FC236}">
                <a16:creationId xmlns:a16="http://schemas.microsoft.com/office/drawing/2014/main" id="{40CADB2C-F5CE-44FF-A7ED-B7D840B1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782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2EE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ote-accent">
            <a:extLst xmlns:a="http://schemas.openxmlformats.org/drawingml/2006/main">
              <a:ext uri="{FF2B5EF4-FFF2-40B4-BE49-F238E27FC236}">
                <a16:creationId xmlns:a16="http://schemas.microsoft.com/office/drawing/2014/main" id="{87D5E926-3B90-4505-9947-D0857593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te">
            <a:extLst xmlns:a="http://schemas.openxmlformats.org/drawingml/2006/main">
              <a:ext uri="{FF2B5EF4-FFF2-40B4-BE49-F238E27FC236}">
                <a16:creationId xmlns:a16="http://schemas.microsoft.com/office/drawing/2014/main" id="{DEBEFB92-8100-4734-924F-6CBB02E6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24550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CONDITION  </a:t>
            </a:r>
            <a:r>
              <a:rPr sz="120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Do not broadcast customers without verifying its size. Filter and projection may be the correct first optimization.</a:t>
            </a:r>
          </a:p>
        </p:txBody>
      </p:sp>
    </p:spTree>
    <p:extLst>
      <p:ext uri="{BB962C8B-B14F-4D97-AF65-F5344CB8AC3E}">
        <p14:creationId xmlns:p14="http://schemas.microsoft.com/office/powerpoint/2010/main" val="95002944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">
            <a:extLst xmlns:a="http://schemas.openxmlformats.org/drawingml/2006/main">
              <a:ext uri="{FF2B5EF4-FFF2-40B4-BE49-F238E27FC236}">
                <a16:creationId xmlns:a16="http://schemas.microsoft.com/office/drawing/2014/main" id="{20F102FF-EDCC-468B-A693-E29139CD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HARMONIZATION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39E1FCF-8637-49B2-B60A-5A650BB4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Corrections to the original guidance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223BF03-0610-461D-AF1A-EFE661E1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0247EBE-A0AE-4024-BAF1-1B9D72B1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974292C-DEE9-4ED6-8AEB-4FD26303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413F178-C396-4E92-8690-8E7FC2C8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33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81ABE-D319-4E1D-94FA-3AF7A086A232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714750"/>
                <a:gridCol w="7105650"/>
              </a:tblGrid>
              <a:tr h="4762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Original idea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Harmonized guidance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Apply groupByKey early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Filter and project early. Delay unnecessary wide operations.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Shuffle is an action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Shuffle is data redistribution caused by wide operations.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Persist after shuffle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Persist only when reuse repays storage and population cost.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Prefer Scala to Python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Choose from workload evidence and boundary costs.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Partition before saving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Design output layout for downstream access patterns.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Explain displays DAGs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explain displays query plans. Spark UI shows stage DAGs.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143059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">
            <a:extLst xmlns:a="http://schemas.openxmlformats.org/drawingml/2006/main">
              <a:ext uri="{FF2B5EF4-FFF2-40B4-BE49-F238E27FC236}">
                <a16:creationId xmlns:a16="http://schemas.microsoft.com/office/drawing/2014/main" id="{337DB8BE-4405-45D3-8BBB-E69BA251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COURSE SUMMARY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A551A89-AA9E-4A86-82F7-2B5424FA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Optimization checklist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5272760-F3C3-4C17-964F-EFE103C7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62C3095-8819-48F5-8ADE-8096D704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80B4B2F-A707-4F27-B93E-756E0C7E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D0FFB0B-4BEC-49ED-AF09-EEFF8C99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34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7F79A-95F6-45FE-9787-64D620062205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1250"/>
                <a:gridCol w="8439150"/>
              </a:tblGrid>
              <a:tr h="45508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Area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Questions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T w="9525">
                      <a:solidFill>
                        <a:srgbClr val="CCD3DC"/>
                      </a:solidFill>
                      <a:prstDash val="solid"/>
                    </a:lnT>
                    <a:lnB w="9525">
                      <a:solidFill>
                        <a:srgbClr val="CCD3DC"/>
                      </a:solidFill>
                      <a:prstDash val="solid"/>
                    </a:lnB>
                    <a:solidFill>
                      <a:srgbClr val="4C2F82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Correctness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Same schema, rows, null behavior, and business totals?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Input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 pruning, filters, projections, or compaction reduce bytes?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Where are Exchange, Sort, aggregate, and join operators?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Partitions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Enough parallelism and balanced task sizes?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Joins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Small side verified? Skew or cardinality explosion?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Cache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Reused, expensive, fits storage, and unpersisted later?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Driver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Any unsafe collect or oversized closure?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3DC"/>
                      </a:solidFill>
                      <a:prstDash val="solid"/>
                    </a:lnL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6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Comparable runs with one change at a time?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3DC"/>
                      </a:solidFill>
                      <a:prstDash val="solid"/>
                    </a:lnR>
                    <a:lnB w="9525">
                      <a:solidFill>
                        <a:srgbClr val="CCD3D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911811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71821F8F-7588-4B95-BB40-9D0A91D6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D4BB2"/>
                </a:solidFill>
                <a:latin typeface="DejaVu Sans"/>
                <a:ea typeface="DejaVu Sans"/>
                <a:cs typeface="DejaVu Sans"/>
              </a:rPr>
              <a:t>RESOURCES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0B87D1A-4AD2-4F35-A1B2-17C3FB77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References and lab files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A737CD1-2A4B-41C8-86F0-E10F84E7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5830A81-595F-4E8A-ADCF-DFD36825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8503F62-6F15-4BFB-8418-DFC6D58D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SPARK OPTIMIZATION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479DD3D-7990-4ECE-B344-C384F292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D6774"/>
                </a:solidFill>
                <a:latin typeface="DejaVu Sans"/>
                <a:ea typeface="DejaVu Sans"/>
                <a:cs typeface="DejaVu Sans"/>
              </a:rPr>
              <a:t>35</a:t>
            </a:r>
          </a:p>
        </p:txBody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C9873AB2-CE01-4A97-967D-160C1881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Companion lab pack: generate_course_data.scala, course_labs.scala, and README.md.</a:t>
            </a:r>
          </a:p>
        </p:txBody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5BCCAB71-4E1D-458E-A5D8-34AAAF54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Apache Spark SQL Performance Tuning: spark.apache.org/docs/latest/sql-performance-tuning</a:t>
            </a:r>
          </a:p>
        </p:txBody>
      </p:sp>
      <p:sp>
        <p:nvSpPr>
          <p:cNvPr id="9" name="bullet-3">
            <a:extLst xmlns:a="http://schemas.openxmlformats.org/drawingml/2006/main">
              <a:ext uri="{FF2B5EF4-FFF2-40B4-BE49-F238E27FC236}">
                <a16:creationId xmlns:a16="http://schemas.microsoft.com/office/drawing/2014/main" id="{957A6714-1F9F-4E23-BF24-B059E74D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051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Apache Spark Tuning Guide: spark.apache.org/docs/latest/tuning.html</a:t>
            </a:r>
          </a:p>
        </p:txBody>
      </p:sp>
      <p:sp>
        <p:nvSpPr>
          <p:cNvPr id="10" name="bullet-4">
            <a:extLst xmlns:a="http://schemas.openxmlformats.org/drawingml/2006/main">
              <a:ext uri="{FF2B5EF4-FFF2-40B4-BE49-F238E27FC236}">
                <a16:creationId xmlns:a16="http://schemas.microsoft.com/office/drawing/2014/main" id="{29A65DA7-4096-4482-A0E2-CFB8616C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Apache Spark Web UI: spark.apache.org/docs/latest/web-ui.html</a:t>
            </a:r>
          </a:p>
        </p:txBody>
      </p:sp>
      <p:sp>
        <p:nvSpPr>
          <p:cNvPr id="11" name="bullet-5">
            <a:extLst xmlns:a="http://schemas.openxmlformats.org/drawingml/2006/main">
              <a:ext uri="{FF2B5EF4-FFF2-40B4-BE49-F238E27FC236}">
                <a16:creationId xmlns:a16="http://schemas.microsoft.com/office/drawing/2014/main" id="{17801D56-3B7F-4547-86ED-142E1C82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•  Confirm defaults and optimizer behavior for the deployed Spark version.</a:t>
            </a:r>
          </a:p>
        </p:txBody>
      </p:sp>
      <p:sp>
        <p:nvSpPr>
          <p:cNvPr id="12" name="note-background">
            <a:extLst xmlns:a="http://schemas.openxmlformats.org/drawingml/2006/main">
              <a:ext uri="{FF2B5EF4-FFF2-40B4-BE49-F238E27FC236}">
                <a16:creationId xmlns:a16="http://schemas.microsoft.com/office/drawing/2014/main" id="{8BE4E160-F806-45B7-BA12-2A956AFD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782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2EE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te-accent">
            <a:extLst xmlns:a="http://schemas.openxmlformats.org/drawingml/2006/main">
              <a:ext uri="{FF2B5EF4-FFF2-40B4-BE49-F238E27FC236}">
                <a16:creationId xmlns:a16="http://schemas.microsoft.com/office/drawing/2014/main" id="{3FB2EFBE-9A7E-4768-AC8E-EA66AF62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note">
            <a:extLst xmlns:a="http://schemas.openxmlformats.org/drawingml/2006/main">
              <a:ext uri="{FF2B5EF4-FFF2-40B4-BE49-F238E27FC236}">
                <a16:creationId xmlns:a16="http://schemas.microsoft.com/office/drawing/2014/main" id="{484D8C00-AFD5-41EA-9C37-008C1C03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24550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6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FINAL PRINCIPLE  </a:t>
            </a:r>
            <a:r>
              <a:rPr sz="1200">
                <a:solidFill>
                  <a:srgbClr val="17263C"/>
                </a:solidFill>
                <a:latin typeface="DejaVu Sans"/>
                <a:ea typeface="DejaVu Sans"/>
                <a:cs typeface="DejaVu Sans"/>
              </a:rPr>
              <a:t>Understand the physical work, remove unnecessary work, balance necessary work, and prove the improvement.</a:t>
            </a:r>
          </a:p>
        </p:txBody>
      </p:sp>
    </p:spTree>
    <p:extLst>
      <p:ext uri="{BB962C8B-B14F-4D97-AF65-F5344CB8AC3E}">
        <p14:creationId xmlns:p14="http://schemas.microsoft.com/office/powerpoint/2010/main" val="15165705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2026-10-19T09:56:11.6860000Z</dcterms:created>
  <dcterms:modified xsi:type="dcterms:W3CDTF">2026-10-19T09:56:11.6860000Z</dcterms:modified>
</coreProperties>
</file>