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7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946E239-2C04-4D13-96BD-121D6F08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A9E64A9-C345-4824-9FD0-0D5E446AD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111FDE0-F72F-43AF-B8CD-49407EC3C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676DECA-B8A7-410F-8640-05031320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8A44C99-385A-47C8-84FF-B3A320C8E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BAEC95A-DFA2-43CA-9379-22CADEB6B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14F8837-D539-4A1E-96FD-FAD452F1A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53ECC13-0DF3-48A1-9DC9-2F87630A80C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CC8BDFD-5C32-4906-96D7-A7C74037F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F6E7EE6-8399-4BD8-9FD2-E10E1D8D1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ver-accent">
            <a:extLst>
              <a:ext uri="{FF2B5EF4-FFF2-40B4-BE49-F238E27FC236}">
                <a16:creationId xmlns:a16="http://schemas.microsoft.com/office/drawing/2014/main" id="{B1422AC2-2E69-4030-B442-55C7B22C5F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507C5B0E-7E71-4723-ABC4-29AD68FDA198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52816D87-25D8-4EA6-9A61-0530D98AE322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723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Applications Using Scala</a:t>
            </a:r>
          </a:p>
        </p:txBody>
      </p:sp>
      <p:sp>
        <p:nvSpPr>
          <p:cNvPr id="4" name="cover-rule">
            <a:extLst>
              <a:ext uri="{FF2B5EF4-FFF2-40B4-BE49-F238E27FC236}">
                <a16:creationId xmlns:a16="http://schemas.microsoft.com/office/drawing/2014/main" id="{5C7C21F0-5CCA-4F4B-9B8B-8024D37C4837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2476500" cy="47625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hor">
            <a:extLst>
              <a:ext uri="{FF2B5EF4-FFF2-40B4-BE49-F238E27FC236}">
                <a16:creationId xmlns:a16="http://schemas.microsoft.com/office/drawing/2014/main" id="{4C0AC61B-FA58-48A8-A9D4-F6B75A5DA4DE}"/>
              </a:ext>
            </a:extLst>
          </p:cNvPr>
          <p:cNvSpPr>
            <a:spLocks noGrp="1"/>
          </p:cNvSpPr>
          <p:nvPr/>
        </p:nvSpPr>
        <p:spPr>
          <a:xfrm>
            <a:off x="838200" y="5619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Kodjo Klouvi</a:t>
            </a:r>
          </a:p>
        </p:txBody>
      </p:sp>
      <p:sp>
        <p:nvSpPr>
          <p:cNvPr id="7" name="email">
            <a:extLst>
              <a:ext uri="{FF2B5EF4-FFF2-40B4-BE49-F238E27FC236}">
                <a16:creationId xmlns:a16="http://schemas.microsoft.com/office/drawing/2014/main" id="{B39C60C3-B1E7-4488-8197-89AD4E06225F}"/>
              </a:ext>
            </a:extLst>
          </p:cNvPr>
          <p:cNvSpPr>
            <a:spLocks noGrp="1"/>
          </p:cNvSpPr>
          <p:nvPr/>
        </p:nvSpPr>
        <p:spPr>
          <a:xfrm>
            <a:off x="838200" y="59055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kodjo@osekoo.com</a:t>
            </a:r>
          </a:p>
        </p:txBody>
      </p:sp>
      <p:sp>
        <p:nvSpPr>
          <p:cNvPr id="8" name="footer-rule">
            <a:extLst>
              <a:ext uri="{FF2B5EF4-FFF2-40B4-BE49-F238E27FC236}">
                <a16:creationId xmlns:a16="http://schemas.microsoft.com/office/drawing/2014/main" id="{82A3DB2A-95E4-4D41-9E7B-7D0B2426604C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41DAE45E-4DD5-4F1C-A8F4-823918F3512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 WITH SCALA</a:t>
            </a:r>
          </a:p>
        </p:txBody>
      </p:sp>
      <p:sp>
        <p:nvSpPr>
          <p:cNvPr id="10" name="page-number">
            <a:extLst>
              <a:ext uri="{FF2B5EF4-FFF2-40B4-BE49-F238E27FC236}">
                <a16:creationId xmlns:a16="http://schemas.microsoft.com/office/drawing/2014/main" id="{E259742B-D932-4829-AB75-97E5D5980E17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48861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D1E340D6-DA70-4129-BB8F-32F6B7989CB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COURSE PLAN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C728750-8975-4945-A9D2-FCF9A47F4CDB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Learning outcomes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FD825D09-4AE4-4CF7-BA62-9278ED4E7899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2219BBF5-E6F9-4900-896A-50A165A9D01D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42141345-C311-4BA0-80DD-29A108AF716F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B67DB121-344F-4418-A966-A378518EBE55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7" name="bullet-1">
            <a:extLst>
              <a:ext uri="{FF2B5EF4-FFF2-40B4-BE49-F238E27FC236}">
                <a16:creationId xmlns:a16="http://schemas.microsoft.com/office/drawing/2014/main" id="{0F3275F2-5357-473A-ADA6-E460BE007F5C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Explain jobs, stages, tasks, partitions, and shuffle boundaries.</a:t>
            </a:r>
          </a:p>
        </p:txBody>
      </p:sp>
      <p:sp>
        <p:nvSpPr>
          <p:cNvPr id="8" name="bullet-2">
            <a:extLst>
              <a:ext uri="{FF2B5EF4-FFF2-40B4-BE49-F238E27FC236}">
                <a16:creationId xmlns:a16="http://schemas.microsoft.com/office/drawing/2014/main" id="{BDE531BD-C323-45A0-8C1D-B3D2E47A6749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Read a formatted physical plan and connect it to Spark UI metrics.</a:t>
            </a:r>
          </a:p>
        </p:txBody>
      </p:sp>
      <p:sp>
        <p:nvSpPr>
          <p:cNvPr id="9" name="bullet-3">
            <a:extLst>
              <a:ext uri="{FF2B5EF4-FFF2-40B4-BE49-F238E27FC236}">
                <a16:creationId xmlns:a16="http://schemas.microsoft.com/office/drawing/2014/main" id="{F2557903-161F-4415-96E7-F18DF4D8A132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Reduce scans, use efficient expressions, and keep large results off the driver.</a:t>
            </a:r>
          </a:p>
        </p:txBody>
      </p:sp>
      <p:sp>
        <p:nvSpPr>
          <p:cNvPr id="10" name="bullet-4">
            <a:extLst>
              <a:ext uri="{FF2B5EF4-FFF2-40B4-BE49-F238E27FC236}">
                <a16:creationId xmlns:a16="http://schemas.microsoft.com/office/drawing/2014/main" id="{936B54DC-7BFE-401E-8477-FF037734216C}"/>
              </a:ext>
            </a:extLst>
          </p:cNvPr>
          <p:cNvSpPr>
            <a:spLocks noGrp="1"/>
          </p:cNvSpPr>
          <p:nvPr/>
        </p:nvSpPr>
        <p:spPr>
          <a:xfrm>
            <a:off x="742950" y="3409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Choose partitions, join strategies, and persistence from evidence.</a:t>
            </a:r>
          </a:p>
        </p:txBody>
      </p:sp>
      <p:sp>
        <p:nvSpPr>
          <p:cNvPr id="11" name="bullet-5">
            <a:extLst>
              <a:ext uri="{FF2B5EF4-FFF2-40B4-BE49-F238E27FC236}">
                <a16:creationId xmlns:a16="http://schemas.microsoft.com/office/drawing/2014/main" id="{14A53E74-3A9D-431C-95A6-69E99D24181D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Diagnose skew, small files, spill, and repeated computation.</a:t>
            </a:r>
          </a:p>
        </p:txBody>
      </p:sp>
      <p:sp>
        <p:nvSpPr>
          <p:cNvPr id="12" name="note-background">
            <a:extLst>
              <a:ext uri="{FF2B5EF4-FFF2-40B4-BE49-F238E27FC236}">
                <a16:creationId xmlns:a16="http://schemas.microsoft.com/office/drawing/2014/main" id="{0B9B0F39-F51B-4C30-96F1-F6DE8FB7C89C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note-accent">
            <a:extLst>
              <a:ext uri="{FF2B5EF4-FFF2-40B4-BE49-F238E27FC236}">
                <a16:creationId xmlns:a16="http://schemas.microsoft.com/office/drawing/2014/main" id="{DFA9FB7B-4081-4B32-97D0-B97699E387A4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note">
            <a:extLst>
              <a:ext uri="{FF2B5EF4-FFF2-40B4-BE49-F238E27FC236}">
                <a16:creationId xmlns:a16="http://schemas.microsoft.com/office/drawing/2014/main" id="{6EB7DDB3-725A-4489-A37D-89EB191D4CEA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METHOD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Measure a baseline, change one factor, verify correctness, and compare the same metrics.</a:t>
            </a:r>
          </a:p>
        </p:txBody>
      </p:sp>
    </p:spTree>
    <p:extLst>
      <p:ext uri="{BB962C8B-B14F-4D97-AF65-F5344CB8AC3E}">
        <p14:creationId xmlns:p14="http://schemas.microsoft.com/office/powerpoint/2010/main" val="122641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">
            <a:extLst>
              <a:ext uri="{FF2B5EF4-FFF2-40B4-BE49-F238E27FC236}">
                <a16:creationId xmlns:a16="http://schemas.microsoft.com/office/drawing/2014/main" id="{581EAC95-778F-45AF-ADB8-26E613428E5B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CONTINUOUS CASE STUDY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C643153-6D9B-46CB-BE12-1F099F215E81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Course dataset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D9F9F074-1D19-499C-8926-FF8E58C6FC15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23850833-9E8C-40D0-87C9-703A0923DF76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1C816BE6-56A4-4A39-AAC0-A196BF1750C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16F3D042-EF93-432E-A210-A48F35E5CE9C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9863332-8CCB-4312-8365-775CB5708376}"/>
              </a:ext>
            </a:extLst>
          </p:cNvPr>
          <p:cNvGraphicFramePr/>
          <p:nvPr/>
        </p:nvGraphicFramePr>
        <p:xfrm>
          <a:off x="685800" y="1714500"/>
          <a:ext cx="10820400" cy="3238500"/>
        </p:xfrm>
        <a:graphic>
          <a:graphicData uri="http://schemas.openxmlformats.org/drawingml/2006/table">
            <a:tbl>
              <a:tblPr firstRow="1" bandRow="1"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Path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Purpose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Deliberate characteristic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countries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Tiny dimension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Broadcast candidate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dimension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Segments and country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orders_partitioned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Main fact table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Partitioned by order_date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orders_small_files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Alternative order input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Fragmented files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Second fact table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actions for cache reuse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note-background">
            <a:extLst>
              <a:ext uri="{FF2B5EF4-FFF2-40B4-BE49-F238E27FC236}">
                <a16:creationId xmlns:a16="http://schemas.microsoft.com/office/drawing/2014/main" id="{9537A0A1-0549-415E-A876-864A3F27E05F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note-accent">
            <a:extLst>
              <a:ext uri="{FF2B5EF4-FFF2-40B4-BE49-F238E27FC236}">
                <a16:creationId xmlns:a16="http://schemas.microsoft.com/office/drawing/2014/main" id="{2E3A2D28-9C70-4593-89F9-DFB8AE8141A1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note">
            <a:extLst>
              <a:ext uri="{FF2B5EF4-FFF2-40B4-BE49-F238E27FC236}">
                <a16:creationId xmlns:a16="http://schemas.microsoft.com/office/drawing/2014/main" id="{187A0C30-A660-44A3-AF8F-5EE217FD01B0}"/>
              </a:ext>
            </a:extLst>
          </p:cNvPr>
          <p:cNvSpPr>
            <a:spLocks noGrp="1"/>
          </p:cNvSpPr>
          <p:nvPr/>
        </p:nvSpPr>
        <p:spPr>
          <a:xfrm>
            <a:off x="895350" y="582930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CLUE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customer_id 42 receives about 22% of orders. The wide debug_payload column is unnecessary for revenue analysis.</a:t>
            </a:r>
          </a:p>
        </p:txBody>
      </p:sp>
    </p:spTree>
    <p:extLst>
      <p:ext uri="{BB962C8B-B14F-4D97-AF65-F5344CB8AC3E}">
        <p14:creationId xmlns:p14="http://schemas.microsoft.com/office/powerpoint/2010/main" val="620565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icker">
            <a:extLst>
              <a:ext uri="{FF2B5EF4-FFF2-40B4-BE49-F238E27FC236}">
                <a16:creationId xmlns:a16="http://schemas.microsoft.com/office/drawing/2014/main" id="{04EE294D-BC9D-4C6D-8A87-2967D01F3CC0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SETUP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AC4CBD5-5C06-49A4-8518-80DEEF71BC36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Dataset generation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91EB2463-54F9-455B-849F-723D62F8B868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B3A8D63C-F4FC-41FA-9C1F-114A258DD001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058698C8-F139-4CCA-9153-5F9A0563B93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D1A36E25-11D1-4B13-8136-FB7193C40363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7" name="code-background">
            <a:extLst>
              <a:ext uri="{FF2B5EF4-FFF2-40B4-BE49-F238E27FC236}">
                <a16:creationId xmlns:a16="http://schemas.microsoft.com/office/drawing/2014/main" id="{3DF22A07-BCC7-4C03-B49B-55EF74495B95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10629900" cy="1952625"/>
          </a:xfrm>
          <a:prstGeom prst="roundRect">
            <a:avLst>
              <a:gd name="adj" fmla="val 3902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code">
            <a:extLst>
              <a:ext uri="{FF2B5EF4-FFF2-40B4-BE49-F238E27FC236}">
                <a16:creationId xmlns:a16="http://schemas.microsoft.com/office/drawing/2014/main" id="{D0ED66F1-59CD-4FEE-A59E-CFC5A822BC18}"/>
              </a:ext>
            </a:extLst>
          </p:cNvPr>
          <p:cNvSpPr>
            <a:spLocks noGrp="1"/>
          </p:cNvSpPr>
          <p:nvPr/>
        </p:nvSpPr>
        <p:spPr>
          <a:xfrm>
            <a:off x="971550" y="1838325"/>
            <a:ext cx="10239375" cy="1647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$env:COURSE_DATA_PATH = "C:\\tmp\\spark-course-data"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$env:CUSTOMER_COUNT = "20000"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$env:ORDER_COUNT = "200000"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$env:EVENT_COUNT = "300000"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$env:NORMAL_PARTITIONS = "8"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$env:SMALL_FILE_PARTITIONS = "40"</a:t>
            </a:r>
          </a:p>
          <a:p>
            <a:endParaRPr sz="1200" b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spark-shell -i generate_course_data.scala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D0845FF2-024B-49EA-973E-67C8907C095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The small profile validates every lab on a classroom laptop.</a:t>
            </a:r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819CE81B-3F23-4FD5-B7DF-BC6D104A2A0F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Use the standard or cluster profile for visible distributed costs.</a:t>
            </a:r>
          </a:p>
        </p:txBody>
      </p:sp>
      <p:sp>
        <p:nvSpPr>
          <p:cNvPr id="11" name="bullet-3">
            <a:extLst>
              <a:ext uri="{FF2B5EF4-FFF2-40B4-BE49-F238E27FC236}">
                <a16:creationId xmlns:a16="http://schemas.microsoft.com/office/drawing/2014/main" id="{41B9601F-7699-435E-A596-E4AF5EF7C895}"/>
              </a:ext>
            </a:extLst>
          </p:cNvPr>
          <p:cNvSpPr>
            <a:spLocks noGrp="1"/>
          </p:cNvSpPr>
          <p:nvPr/>
        </p:nvSpPr>
        <p:spPr>
          <a:xfrm>
            <a:off x="742950" y="50292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Restart the Spark shell before recording baseline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436284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icker">
            <a:extLst>
              <a:ext uri="{FF2B5EF4-FFF2-40B4-BE49-F238E27FC236}">
                <a16:creationId xmlns:a16="http://schemas.microsoft.com/office/drawing/2014/main" id="{BC93C6B2-60E9-4CE0-AAC5-285E1E83EF38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SETUP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AB5A10C-6CC0-4498-968E-D715A048085C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Dataset loading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0EE1351D-231E-4D17-A6E5-A788C991A22F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E56148A9-7875-4419-BF9C-8D80F90DFE0A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49DBCA14-A6DC-4D35-A8A8-B8BA17FEFB0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D78888C4-8EAA-438F-A5BC-54D4C71F0030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7" name="code-background">
            <a:extLst>
              <a:ext uri="{FF2B5EF4-FFF2-40B4-BE49-F238E27FC236}">
                <a16:creationId xmlns:a16="http://schemas.microsoft.com/office/drawing/2014/main" id="{D6AA3807-E699-49D1-B570-52AC6108949B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10629900" cy="2095500"/>
          </a:xfrm>
          <a:prstGeom prst="roundRect">
            <a:avLst>
              <a:gd name="adj" fmla="val 3636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code">
            <a:extLst>
              <a:ext uri="{FF2B5EF4-FFF2-40B4-BE49-F238E27FC236}">
                <a16:creationId xmlns:a16="http://schemas.microsoft.com/office/drawing/2014/main" id="{45DBDA4F-2EAE-4264-AF95-26728DD1D849}"/>
              </a:ext>
            </a:extLst>
          </p:cNvPr>
          <p:cNvSpPr>
            <a:spLocks noGrp="1"/>
          </p:cNvSpPr>
          <p:nvPr/>
        </p:nvSpPr>
        <p:spPr>
          <a:xfrm>
            <a:off x="971550" y="1838325"/>
            <a:ext cx="10239375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import org.apache.spark.sql.functions.*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import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org.apache.spark.storage.StorageLevel</a:t>
            </a:r>
            <a:endParaRPr sz="1125" b="0" dirty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endParaRPr sz="1125" b="0" dirty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root =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sys.env.getOrElse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("COURSE_DATA_PATH", "./spark-course-data")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orders =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spark.read.parquet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s"$root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orders_partitioned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")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fragmentedOrders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spark.read.parquet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s"$root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orders_small_files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")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customers =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spark.read.parquet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s"$root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/customers")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countries =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spark.read.parquet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s"$root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/countries")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events =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spark.read.parquet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s"$root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/events")</a:t>
            </a:r>
          </a:p>
        </p:txBody>
      </p:sp>
      <p:sp>
        <p:nvSpPr>
          <p:cNvPr id="9" name="note-background">
            <a:extLst>
              <a:ext uri="{FF2B5EF4-FFF2-40B4-BE49-F238E27FC236}">
                <a16:creationId xmlns:a16="http://schemas.microsoft.com/office/drawing/2014/main" id="{1D0DD153-06CD-4010-B411-36AA409A6778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note-accent">
            <a:extLst>
              <a:ext uri="{FF2B5EF4-FFF2-40B4-BE49-F238E27FC236}">
                <a16:creationId xmlns:a16="http://schemas.microsoft.com/office/drawing/2014/main" id="{1853AB39-D79C-439A-9CE7-FEE2A53191DA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note">
            <a:extLst>
              <a:ext uri="{FF2B5EF4-FFF2-40B4-BE49-F238E27FC236}">
                <a16:creationId xmlns:a16="http://schemas.microsoft.com/office/drawing/2014/main" id="{DB543998-644B-4FB9-B666-FA139FA7ECAF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BASELINE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Record runtime, row count, scan bytes, shuffle read and write, spill, task count, and the slowest task.</a:t>
            </a:r>
          </a:p>
        </p:txBody>
      </p:sp>
    </p:spTree>
    <p:extLst>
      <p:ext uri="{BB962C8B-B14F-4D97-AF65-F5344CB8AC3E}">
        <p14:creationId xmlns:p14="http://schemas.microsoft.com/office/powerpoint/2010/main" val="2138377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">
            <a:extLst>
              <a:ext uri="{FF2B5EF4-FFF2-40B4-BE49-F238E27FC236}">
                <a16:creationId xmlns:a16="http://schemas.microsoft.com/office/drawing/2014/main" id="{52462522-618F-42CC-AC2C-153E4A65B26A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FOUNDATIONS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F600D2-0D3A-400E-B631-EB4E533794B7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Spark execution architecture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A099128F-DAF7-4952-87BB-CA70B5103D0B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8F80D8C1-3FCC-4EA5-892D-DA320245EEF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56B01DAB-04CA-4C9A-BD21-17C02C444EB3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D5669D36-42EF-4453-9BEA-84916F3A63E1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D95867E7-023B-4274-AF2D-909BB1ABECAD}"/>
              </a:ext>
            </a:extLst>
          </p:cNvPr>
          <p:cNvGraphicFramePr/>
          <p:nvPr/>
        </p:nvGraphicFramePr>
        <p:xfrm>
          <a:off x="685800" y="1809750"/>
          <a:ext cx="10820400" cy="295275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Responsibility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Optimization concern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Driver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Builds plans and schedules work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collect, metadata, large closures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Executor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Runs tasks and stores partitions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CPU, memory, GC, spill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Unit of distributed data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Balance and task size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Redistributes data by key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Network, disk, sort, serialization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note-background">
            <a:extLst>
              <a:ext uri="{FF2B5EF4-FFF2-40B4-BE49-F238E27FC236}">
                <a16:creationId xmlns:a16="http://schemas.microsoft.com/office/drawing/2014/main" id="{815BDE1A-E487-4FA7-928C-4598B33B987B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note-accent">
            <a:extLst>
              <a:ext uri="{FF2B5EF4-FFF2-40B4-BE49-F238E27FC236}">
                <a16:creationId xmlns:a16="http://schemas.microsoft.com/office/drawing/2014/main" id="{474A5432-C62D-4766-B0A6-1A63E3DEBA07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note">
            <a:extLst>
              <a:ext uri="{FF2B5EF4-FFF2-40B4-BE49-F238E27FC236}">
                <a16:creationId xmlns:a16="http://schemas.microsoft.com/office/drawing/2014/main" id="{9C398782-C9A9-4DB6-9D5E-7077C044F0DB}"/>
              </a:ext>
            </a:extLst>
          </p:cNvPr>
          <p:cNvSpPr>
            <a:spLocks noGrp="1"/>
          </p:cNvSpPr>
          <p:nvPr/>
        </p:nvSpPr>
        <p:spPr>
          <a:xfrm>
            <a:off x="895350" y="582930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RULE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The driver coordinates work. Keep large datasets distributed across executors.</a:t>
            </a:r>
          </a:p>
        </p:txBody>
      </p:sp>
    </p:spTree>
    <p:extLst>
      <p:ext uri="{BB962C8B-B14F-4D97-AF65-F5344CB8AC3E}">
        <p14:creationId xmlns:p14="http://schemas.microsoft.com/office/powerpoint/2010/main" val="125775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0F1E1629-D660-475C-965B-ECA3D62A1E2C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EXECUTION MODEL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A1795C9-B0D9-4B9E-9D31-A4B54F9E42EE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Transformations and actions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14514286-3A96-4B4B-B808-0AABFD2D647B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87B0E111-F1B1-404E-A6EC-6C16ACDC7AF6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842B4DDD-8E3C-4186-8E29-E828DCFBD2E1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D24BA472-CC32-4400-BC93-A25CD2A8A39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F54DBF6-0206-4707-A762-FE542950AB34}"/>
              </a:ext>
            </a:extLst>
          </p:cNvPr>
          <p:cNvGraphicFramePr/>
          <p:nvPr/>
        </p:nvGraphicFramePr>
        <p:xfrm>
          <a:off x="685800" y="1714500"/>
          <a:ext cx="10820400" cy="2714625"/>
        </p:xfrm>
        <a:graphic>
          <a:graphicData uri="http://schemas.openxmlformats.org/drawingml/2006/table">
            <a:tbl>
              <a:tblPr firstRow="1" bandRow="1"/>
              <a:tblGrid>
                <a:gridCol w="541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Transformations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Build a lazy plan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Trigger execution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filter, select, join, groupBy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count, collect, show, write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Spark can optimize the expression tree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 action can recompute an uncached lineage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Usually no job at definition time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Jobs, stages, and tasks run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ode-background">
            <a:extLst>
              <a:ext uri="{FF2B5EF4-FFF2-40B4-BE49-F238E27FC236}">
                <a16:creationId xmlns:a16="http://schemas.microsoft.com/office/drawing/2014/main" id="{8A5A18FB-3A1D-41EA-AD43-7688CB228585}"/>
              </a:ext>
            </a:extLst>
          </p:cNvPr>
          <p:cNvSpPr>
            <a:spLocks noGrp="1"/>
          </p:cNvSpPr>
          <p:nvPr/>
        </p:nvSpPr>
        <p:spPr>
          <a:xfrm>
            <a:off x="781050" y="4810125"/>
            <a:ext cx="10629900" cy="647700"/>
          </a:xfrm>
          <a:prstGeom prst="roundRect">
            <a:avLst>
              <a:gd name="adj" fmla="val 11765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code">
            <a:extLst>
              <a:ext uri="{FF2B5EF4-FFF2-40B4-BE49-F238E27FC236}">
                <a16:creationId xmlns:a16="http://schemas.microsoft.com/office/drawing/2014/main" id="{97DEDE14-60C2-40CE-8C59-375C9C490703}"/>
              </a:ext>
            </a:extLst>
          </p:cNvPr>
          <p:cNvSpPr>
            <a:spLocks noGrp="1"/>
          </p:cNvSpPr>
          <p:nvPr/>
        </p:nvSpPr>
        <p:spPr>
          <a:xfrm>
            <a:off x="971550" y="4981575"/>
            <a:ext cx="10239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235"/>
          </a:bodyPr>
          <a:lstStyle>
            <a:def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27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paid = </a:t>
            </a:r>
            <a:r>
              <a:rPr sz="127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orders.filter</a:t>
            </a:r>
            <a:r>
              <a:rPr sz="127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($"status" === "PAID")  // lazy</a:t>
            </a:r>
          </a:p>
          <a:p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27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rows = </a:t>
            </a:r>
            <a:r>
              <a:rPr sz="127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paid.count</a:t>
            </a:r>
            <a:r>
              <a:rPr sz="127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()                            // action</a:t>
            </a:r>
          </a:p>
        </p:txBody>
      </p:sp>
    </p:spTree>
    <p:extLst>
      <p:ext uri="{BB962C8B-B14F-4D97-AF65-F5344CB8AC3E}">
        <p14:creationId xmlns:p14="http://schemas.microsoft.com/office/powerpoint/2010/main" val="552418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">
            <a:extLst>
              <a:ext uri="{FF2B5EF4-FFF2-40B4-BE49-F238E27FC236}">
                <a16:creationId xmlns:a16="http://schemas.microsoft.com/office/drawing/2014/main" id="{36EDFBFD-FEB8-41ED-9B76-5BAC944912DA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EXECUTION MODEL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5C27F0A-6B1A-4525-9BA1-26CFADBDFF89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Jobs, stages, tasks, and partitions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A134A124-2D5D-468A-BD02-D8293031F734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E9D59CAD-DFBA-46A0-8A9F-CFCA0D57BE38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861D52DE-BF23-412A-8810-D78E5136DB0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619A8FBC-5E71-473C-96B1-FF7F084964AA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35524F6C-F438-4576-B1BC-9D67BE5D0879}"/>
              </a:ext>
            </a:extLst>
          </p:cNvPr>
          <p:cNvGraphicFramePr/>
          <p:nvPr/>
        </p:nvGraphicFramePr>
        <p:xfrm>
          <a:off x="685800" y="1714500"/>
          <a:ext cx="10820400" cy="3524250"/>
        </p:xfrm>
        <a:graphic>
          <a:graphicData uri="http://schemas.openxmlformats.org/drawingml/2006/table">
            <a:tbl>
              <a:tblPr firstRow="1" bandRow="1"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Concept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Performance signal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Job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 triggered by an action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Repeated actions may repeat lineage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Tasks between shuffle boundaries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Exchange often starts a new stage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Task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 on one partition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Slowest task can delay the stage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Slice of distributed data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Too few or too many both cost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Cross-executor redistribution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Read, write, spill, fetch wait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445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A293FD02-B0E8-4FD7-8508-2A812E149E65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QUERY PLANS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C49327E-6749-46C0-A68D-8C030031A3F1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Logical and physical plans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2D141957-AD7B-4C73-B8DE-F8327118E3D6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CD3C0FFE-62DD-4CB1-B42D-CB29C5134882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5E67CE3-21B2-431B-8C0B-A6CB2C410063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36CB078B-0910-4762-98D3-B4C0F2D1AB24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7" name="code-background">
            <a:extLst>
              <a:ext uri="{FF2B5EF4-FFF2-40B4-BE49-F238E27FC236}">
                <a16:creationId xmlns:a16="http://schemas.microsoft.com/office/drawing/2014/main" id="{BB0ACD80-96F9-4BA5-AF62-23E405C8A880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10629900" cy="1666875"/>
          </a:xfrm>
          <a:prstGeom prst="roundRect">
            <a:avLst>
              <a:gd name="adj" fmla="val 4571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code">
            <a:extLst>
              <a:ext uri="{FF2B5EF4-FFF2-40B4-BE49-F238E27FC236}">
                <a16:creationId xmlns:a16="http://schemas.microsoft.com/office/drawing/2014/main" id="{D567BA6C-EE17-4D53-8164-5E061736E219}"/>
              </a:ext>
            </a:extLst>
          </p:cNvPr>
          <p:cNvSpPr>
            <a:spLocks noGrp="1"/>
          </p:cNvSpPr>
          <p:nvPr/>
        </p:nvSpPr>
        <p:spPr>
          <a:xfrm>
            <a:off x="971550" y="1838325"/>
            <a:ext cx="10239375" cy="1362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q = orders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.filter($"status" === "PAID")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.join(customers, Seq("</a:t>
            </a: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customer_id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"))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</a:t>
            </a: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groupBy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($"segment").</a:t>
            </a: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agg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(sum($"amount"))</a:t>
            </a:r>
          </a:p>
          <a:p>
            <a:endParaRPr sz="1200" b="0" dirty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q.explain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("formatted")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q.explain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("cost")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1299D5D3-0A08-4B9C-B8E1-FB6DC8B07B6B}"/>
              </a:ext>
            </a:extLst>
          </p:cNvPr>
          <p:cNvSpPr>
            <a:spLocks noGrp="1"/>
          </p:cNvSpPr>
          <p:nvPr/>
        </p:nvSpPr>
        <p:spPr>
          <a:xfrm>
            <a:off x="742950" y="35718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Scan: columns, partition filters, and pushed filters.</a:t>
            </a:r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FA546B87-E0E2-4BC2-B839-D2C755745D29}"/>
              </a:ext>
            </a:extLst>
          </p:cNvPr>
          <p:cNvSpPr>
            <a:spLocks noGrp="1"/>
          </p:cNvSpPr>
          <p:nvPr/>
        </p:nvSpPr>
        <p:spPr>
          <a:xfrm>
            <a:off x="742950" y="40862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Exchange: shuffle boundaries and partitioning.</a:t>
            </a:r>
          </a:p>
        </p:txBody>
      </p:sp>
      <p:sp>
        <p:nvSpPr>
          <p:cNvPr id="11" name="bullet-3">
            <a:extLst>
              <a:ext uri="{FF2B5EF4-FFF2-40B4-BE49-F238E27FC236}">
                <a16:creationId xmlns:a16="http://schemas.microsoft.com/office/drawing/2014/main" id="{08CC22DF-F999-4273-96C0-81D44A16B044}"/>
              </a:ext>
            </a:extLst>
          </p:cNvPr>
          <p:cNvSpPr>
            <a:spLocks noGrp="1"/>
          </p:cNvSpPr>
          <p:nvPr/>
        </p:nvSpPr>
        <p:spPr>
          <a:xfrm>
            <a:off x="742950" y="46005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350" b="0" dirty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Join: broadcast hash, sort merge, shuffled hash, or nested loop.</a:t>
            </a:r>
            <a:endParaRPr sz="1350" b="0" dirty="0">
              <a:solidFill>
                <a:srgbClr val="17263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bullet-4">
            <a:extLst>
              <a:ext uri="{FF2B5EF4-FFF2-40B4-BE49-F238E27FC236}">
                <a16:creationId xmlns:a16="http://schemas.microsoft.com/office/drawing/2014/main" id="{7A19E61E-8EB7-4339-AE01-7706512D6C0A}"/>
              </a:ext>
            </a:extLst>
          </p:cNvPr>
          <p:cNvSpPr>
            <a:spLocks noGrp="1"/>
          </p:cNvSpPr>
          <p:nvPr/>
        </p:nvSpPr>
        <p:spPr>
          <a:xfrm>
            <a:off x="742950" y="51149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Adaptive plan: initial and final operators may differ.</a:t>
            </a:r>
          </a:p>
        </p:txBody>
      </p:sp>
      <p:sp>
        <p:nvSpPr>
          <p:cNvPr id="13" name="note-background">
            <a:extLst>
              <a:ext uri="{FF2B5EF4-FFF2-40B4-BE49-F238E27FC236}">
                <a16:creationId xmlns:a16="http://schemas.microsoft.com/office/drawing/2014/main" id="{9C0290AF-6EC9-41DF-9EB8-175387B1221E}"/>
              </a:ext>
            </a:extLst>
          </p:cNvPr>
          <p:cNvSpPr>
            <a:spLocks noGrp="1"/>
          </p:cNvSpPr>
          <p:nvPr/>
        </p:nvSpPr>
        <p:spPr>
          <a:xfrm>
            <a:off x="704850" y="5857875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note-accent">
            <a:extLst>
              <a:ext uri="{FF2B5EF4-FFF2-40B4-BE49-F238E27FC236}">
                <a16:creationId xmlns:a16="http://schemas.microsoft.com/office/drawing/2014/main" id="{0ABE01DD-4CA3-474E-AFCE-1A51B979514C}"/>
              </a:ext>
            </a:extLst>
          </p:cNvPr>
          <p:cNvSpPr>
            <a:spLocks noGrp="1"/>
          </p:cNvSpPr>
          <p:nvPr/>
        </p:nvSpPr>
        <p:spPr>
          <a:xfrm>
            <a:off x="704850" y="5857875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note">
            <a:extLst>
              <a:ext uri="{FF2B5EF4-FFF2-40B4-BE49-F238E27FC236}">
                <a16:creationId xmlns:a16="http://schemas.microsoft.com/office/drawing/2014/main" id="{7BF9F3F5-A93C-4406-A915-D7A4528C453D}"/>
              </a:ext>
            </a:extLst>
          </p:cNvPr>
          <p:cNvSpPr>
            <a:spLocks noGrp="1"/>
          </p:cNvSpPr>
          <p:nvPr/>
        </p:nvSpPr>
        <p:spPr>
          <a:xfrm>
            <a:off x="895350" y="5972175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234"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CORRECTION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explain(extended = true) shows parsed, analyzed, optimized, and physical plans. The formatted mode supports operator-level reading.</a:t>
            </a:r>
          </a:p>
        </p:txBody>
      </p:sp>
    </p:spTree>
    <p:extLst>
      <p:ext uri="{BB962C8B-B14F-4D97-AF65-F5344CB8AC3E}">
        <p14:creationId xmlns:p14="http://schemas.microsoft.com/office/powerpoint/2010/main" val="2027114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2C3F9A1B-4E39-4DBC-A881-B25C21AEB310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FAF240-345E-4BA5-8B31-91FA1FDB05BA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Plan detective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675D9CC1-D6BF-4F4C-AC89-792AA7B76711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F99C0BA2-83CF-463B-89F9-ADC09408C630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C848943-5353-4F04-AFC4-455C6492C76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EDDE10F7-2D80-466B-94F3-CAAEF4077FB7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7" name="exercise-banner">
            <a:extLst>
              <a:ext uri="{FF2B5EF4-FFF2-40B4-BE49-F238E27FC236}">
                <a16:creationId xmlns:a16="http://schemas.microsoft.com/office/drawing/2014/main" id="{60250739-6126-4200-B8F1-843A359055C8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F4C95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exercise-label">
            <a:extLst>
              <a:ext uri="{FF2B5EF4-FFF2-40B4-BE49-F238E27FC236}">
                <a16:creationId xmlns:a16="http://schemas.microsoft.com/office/drawing/2014/main" id="{6E794645-2DD0-4C99-8D3E-DD045F712973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1  |  5 minutes</a:t>
            </a:r>
          </a:p>
        </p:txBody>
      </p:sp>
      <p:sp>
        <p:nvSpPr>
          <p:cNvPr id="9" name="exercise-prompt">
            <a:extLst>
              <a:ext uri="{FF2B5EF4-FFF2-40B4-BE49-F238E27FC236}">
                <a16:creationId xmlns:a16="http://schemas.microsoft.com/office/drawing/2014/main" id="{854EAF5E-2926-4D22-98B3-23B78321D7A3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Inspect the January paid-order query before running it.</a:t>
            </a:r>
          </a:p>
        </p:txBody>
      </p:sp>
      <p:sp>
        <p:nvSpPr>
          <p:cNvPr id="10" name="code-background">
            <a:extLst>
              <a:ext uri="{FF2B5EF4-FFF2-40B4-BE49-F238E27FC236}">
                <a16:creationId xmlns:a16="http://schemas.microsoft.com/office/drawing/2014/main" id="{A3753743-E694-4A86-8180-2E97E025E32A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10629900" cy="1381125"/>
          </a:xfrm>
          <a:prstGeom prst="roundRect">
            <a:avLst>
              <a:gd name="adj" fmla="val 5517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code">
            <a:extLst>
              <a:ext uri="{FF2B5EF4-FFF2-40B4-BE49-F238E27FC236}">
                <a16:creationId xmlns:a16="http://schemas.microsoft.com/office/drawing/2014/main" id="{D0EB20D2-1491-4E06-BBA2-187409B86203}"/>
              </a:ext>
            </a:extLst>
          </p:cNvPr>
          <p:cNvSpPr>
            <a:spLocks noGrp="1"/>
          </p:cNvSpPr>
          <p:nvPr/>
        </p:nvSpPr>
        <p:spPr>
          <a:xfrm>
            <a:off x="971550" y="3124200"/>
            <a:ext cx="1023937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90"/>
          </a:bodyPr>
          <a:lstStyle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januaryPaid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= orders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.filter($"</a:t>
            </a: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order_date".between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("2026-01-01", "2026-01-31"))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.filter($"status" === "PAID")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.select("</a:t>
            </a: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customer_id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", "amount", "country")</a:t>
            </a:r>
          </a:p>
          <a:p>
            <a:endParaRPr sz="1200" b="0" dirty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januaryPaid.explain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("formatted")</a:t>
            </a:r>
          </a:p>
        </p:txBody>
      </p:sp>
      <p:sp>
        <p:nvSpPr>
          <p:cNvPr id="12" name="bullet-1">
            <a:extLst>
              <a:ext uri="{FF2B5EF4-FFF2-40B4-BE49-F238E27FC236}">
                <a16:creationId xmlns:a16="http://schemas.microsoft.com/office/drawing/2014/main" id="{60566D7B-CC2F-4A74-98DF-82EB81F2EE7F}"/>
              </a:ext>
            </a:extLst>
          </p:cNvPr>
          <p:cNvSpPr>
            <a:spLocks noGrp="1"/>
          </p:cNvSpPr>
          <p:nvPr/>
        </p:nvSpPr>
        <p:spPr>
          <a:xfrm>
            <a:off x="742950" y="46196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Find the scan and ReadSchema.</a:t>
            </a:r>
          </a:p>
        </p:txBody>
      </p:sp>
      <p:sp>
        <p:nvSpPr>
          <p:cNvPr id="13" name="bullet-2">
            <a:extLst>
              <a:ext uri="{FF2B5EF4-FFF2-40B4-BE49-F238E27FC236}">
                <a16:creationId xmlns:a16="http://schemas.microsoft.com/office/drawing/2014/main" id="{02DB9EE7-BF9C-4439-BB26-C8DE46B791D3}"/>
              </a:ext>
            </a:extLst>
          </p:cNvPr>
          <p:cNvSpPr>
            <a:spLocks noGrp="1"/>
          </p:cNvSpPr>
          <p:nvPr/>
        </p:nvSpPr>
        <p:spPr>
          <a:xfrm>
            <a:off x="742950" y="51339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Find PartitionFilters and pushed filters.</a:t>
            </a:r>
          </a:p>
        </p:txBody>
      </p:sp>
      <p:sp>
        <p:nvSpPr>
          <p:cNvPr id="14" name="bullet-3">
            <a:extLst>
              <a:ext uri="{FF2B5EF4-FFF2-40B4-BE49-F238E27FC236}">
                <a16:creationId xmlns:a16="http://schemas.microsoft.com/office/drawing/2014/main" id="{24E92BC2-E02A-48B7-AFD3-DC63D749645D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Predict the number of input partitions and scan files.</a:t>
            </a:r>
          </a:p>
        </p:txBody>
      </p:sp>
    </p:spTree>
    <p:extLst>
      <p:ext uri="{BB962C8B-B14F-4D97-AF65-F5344CB8AC3E}">
        <p14:creationId xmlns:p14="http://schemas.microsoft.com/office/powerpoint/2010/main" val="40827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EC236D38-2D4B-4252-AC39-A53ACD948AEF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679C750-012E-474A-A61A-CA147BE2CBF6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Plan detective solution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B23D1240-788E-4927-A9F9-A8452973A26F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BD99B912-1606-4180-B84E-A8DFA0B86D9A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8382D3D-A9C4-42C6-9737-CEF01F0A560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0951E382-40A2-4EA4-BA9B-D062C7B41849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7" name="solution-banner">
            <a:extLst>
              <a:ext uri="{FF2B5EF4-FFF2-40B4-BE49-F238E27FC236}">
                <a16:creationId xmlns:a16="http://schemas.microsoft.com/office/drawing/2014/main" id="{F499EA0D-FBB9-4B56-9A87-426177B80701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2E7D5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olution-label">
            <a:extLst>
              <a:ext uri="{FF2B5EF4-FFF2-40B4-BE49-F238E27FC236}">
                <a16:creationId xmlns:a16="http://schemas.microsoft.com/office/drawing/2014/main" id="{DC8D1644-C66A-484E-989C-54391B0163C7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1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F7AB5B41-3546-44CF-B7B8-294BC83BFE66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ReadSchema should contain only the required columns and partition metadata.</a:t>
            </a:r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BBB001D6-6303-4766-8006-F49AA4A4D8B0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The order_date condition should appear as a partition filter.</a:t>
            </a:r>
          </a:p>
        </p:txBody>
      </p:sp>
      <p:sp>
        <p:nvSpPr>
          <p:cNvPr id="11" name="bullet-3">
            <a:extLst>
              <a:ext uri="{FF2B5EF4-FFF2-40B4-BE49-F238E27FC236}">
                <a16:creationId xmlns:a16="http://schemas.microsoft.com/office/drawing/2014/main" id="{FCF50AAB-9DD7-4518-8AF5-91298C361BDC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The status condition may appear as a pushed filter depending on source capabilities.</a:t>
            </a:r>
          </a:p>
        </p:txBody>
      </p:sp>
      <p:sp>
        <p:nvSpPr>
          <p:cNvPr id="12" name="bullet-4">
            <a:extLst>
              <a:ext uri="{FF2B5EF4-FFF2-40B4-BE49-F238E27FC236}">
                <a16:creationId xmlns:a16="http://schemas.microsoft.com/office/drawing/2014/main" id="{1EC8C889-091A-4355-A861-1B00273CEF02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Confirm the final plan after execution because AQE can change operators.</a:t>
            </a:r>
          </a:p>
        </p:txBody>
      </p:sp>
    </p:spTree>
    <p:extLst>
      <p:ext uri="{BB962C8B-B14F-4D97-AF65-F5344CB8AC3E}">
        <p14:creationId xmlns:p14="http://schemas.microsoft.com/office/powerpoint/2010/main" val="619094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7A09BC67-1565-4BC9-99A3-C03060C975D6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DATA REDUCTION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7CCED04-3CE6-46AC-8A3E-5C61A5C231E0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Read less data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E1231C5E-3CC9-4EE7-807B-24DEBE51CA3E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EE0A6935-E42C-4DBE-BC60-B5140B8FFBBD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1855A96A-F80D-4674-86E8-97A416687A83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40A551A4-7524-4849-9089-83682869A2B4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7" name="bullet-1">
            <a:extLst>
              <a:ext uri="{FF2B5EF4-FFF2-40B4-BE49-F238E27FC236}">
                <a16:creationId xmlns:a16="http://schemas.microsoft.com/office/drawing/2014/main" id="{9372FCC4-D188-48E4-A4B3-E58D10187BB2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Select only columns required by the result.</a:t>
            </a:r>
          </a:p>
        </p:txBody>
      </p:sp>
      <p:sp>
        <p:nvSpPr>
          <p:cNvPr id="8" name="bullet-2">
            <a:extLst>
              <a:ext uri="{FF2B5EF4-FFF2-40B4-BE49-F238E27FC236}">
                <a16:creationId xmlns:a16="http://schemas.microsoft.com/office/drawing/2014/main" id="{F011340A-A054-4DFB-8CEA-CF6504EB8111}"/>
              </a:ext>
            </a:extLst>
          </p:cNvPr>
          <p:cNvSpPr>
            <a:spLocks noGrp="1"/>
          </p:cNvSpPr>
          <p:nvPr/>
        </p:nvSpPr>
        <p:spPr>
          <a:xfrm>
            <a:off x="742950" y="23145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Filter partition columns early so Spark can skip directories.</a:t>
            </a:r>
          </a:p>
        </p:txBody>
      </p:sp>
      <p:sp>
        <p:nvSpPr>
          <p:cNvPr id="9" name="bullet-3">
            <a:extLst>
              <a:ext uri="{FF2B5EF4-FFF2-40B4-BE49-F238E27FC236}">
                <a16:creationId xmlns:a16="http://schemas.microsoft.com/office/drawing/2014/main" id="{229365EE-634E-4EF8-901E-352E077E2C87}"/>
              </a:ext>
            </a:extLst>
          </p:cNvPr>
          <p:cNvSpPr>
            <a:spLocks noGrp="1"/>
          </p:cNvSpPr>
          <p:nvPr/>
        </p:nvSpPr>
        <p:spPr>
          <a:xfrm>
            <a:off x="742950" y="28670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Prefer Parquet or ORC for analytical scans.</a:t>
            </a:r>
          </a:p>
        </p:txBody>
      </p:sp>
      <p:sp>
        <p:nvSpPr>
          <p:cNvPr id="10" name="bullet-4">
            <a:extLst>
              <a:ext uri="{FF2B5EF4-FFF2-40B4-BE49-F238E27FC236}">
                <a16:creationId xmlns:a16="http://schemas.microsoft.com/office/drawing/2014/main" id="{75B70ADB-F3C8-4B02-9192-EFF4B6BA1A6F}"/>
              </a:ext>
            </a:extLst>
          </p:cNvPr>
          <p:cNvSpPr>
            <a:spLocks noGrp="1"/>
          </p:cNvSpPr>
          <p:nvPr/>
        </p:nvSpPr>
        <p:spPr>
          <a:xfrm>
            <a:off x="742950" y="34194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Avoid high-cardinality storage partition columns.</a:t>
            </a:r>
          </a:p>
        </p:txBody>
      </p:sp>
      <p:sp>
        <p:nvSpPr>
          <p:cNvPr id="11" name="bullet-5">
            <a:extLst>
              <a:ext uri="{FF2B5EF4-FFF2-40B4-BE49-F238E27FC236}">
                <a16:creationId xmlns:a16="http://schemas.microsoft.com/office/drawing/2014/main" id="{2CC60A63-E62C-429E-A5C6-7AB524166969}"/>
              </a:ext>
            </a:extLst>
          </p:cNvPr>
          <p:cNvSpPr>
            <a:spLocks noGrp="1"/>
          </p:cNvSpPr>
          <p:nvPr/>
        </p:nvSpPr>
        <p:spPr>
          <a:xfrm>
            <a:off x="742950" y="39719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Compact tiny files when scheduling and file-open overhead dominate.</a:t>
            </a:r>
          </a:p>
        </p:txBody>
      </p:sp>
      <p:sp>
        <p:nvSpPr>
          <p:cNvPr id="12" name="note-background">
            <a:extLst>
              <a:ext uri="{FF2B5EF4-FFF2-40B4-BE49-F238E27FC236}">
                <a16:creationId xmlns:a16="http://schemas.microsoft.com/office/drawing/2014/main" id="{10121D95-0382-4175-9599-CFABAF408D34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note-accent">
            <a:extLst>
              <a:ext uri="{FF2B5EF4-FFF2-40B4-BE49-F238E27FC236}">
                <a16:creationId xmlns:a16="http://schemas.microsoft.com/office/drawing/2014/main" id="{646C9BD2-E411-4E8A-A6D9-3D262EF8E537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note">
            <a:extLst>
              <a:ext uri="{FF2B5EF4-FFF2-40B4-BE49-F238E27FC236}">
                <a16:creationId xmlns:a16="http://schemas.microsoft.com/office/drawing/2014/main" id="{94CCCB8A-D227-43C7-B388-7595E4CF0AEE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91"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DATASET CLUE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Selecting revenue columns removes debug_payload from ReadSchema. Filtering order_date demonstrates partition pruning.</a:t>
            </a:r>
          </a:p>
        </p:txBody>
      </p:sp>
    </p:spTree>
    <p:extLst>
      <p:ext uri="{BB962C8B-B14F-4D97-AF65-F5344CB8AC3E}">
        <p14:creationId xmlns:p14="http://schemas.microsoft.com/office/powerpoint/2010/main" val="2048357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icker">
            <a:extLst>
              <a:ext uri="{FF2B5EF4-FFF2-40B4-BE49-F238E27FC236}">
                <a16:creationId xmlns:a16="http://schemas.microsoft.com/office/drawing/2014/main" id="{BAAE292B-979C-4A45-BFA9-0CE56254417A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EFFICIENT APIS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E680726-8759-48CB-AEDF-AE67AEECCF21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Built-in expressions and UDFs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1BE8E2C8-5D14-4135-A490-A52DE4348A8A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F7E27B6B-F2E7-4F9C-8E7E-3704610F5FBF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68B850A-36FE-4941-B602-03E553DD3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B693CE44-B28D-40E4-AF87-0EE759AE2839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7" name="code-background">
            <a:extLst>
              <a:ext uri="{FF2B5EF4-FFF2-40B4-BE49-F238E27FC236}">
                <a16:creationId xmlns:a16="http://schemas.microsoft.com/office/drawing/2014/main" id="{B2159CC4-209D-4ED8-909C-430571408D7A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10629900" cy="1666875"/>
          </a:xfrm>
          <a:prstGeom prst="roundRect">
            <a:avLst>
              <a:gd name="adj" fmla="val 4571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code">
            <a:extLst>
              <a:ext uri="{FF2B5EF4-FFF2-40B4-BE49-F238E27FC236}">
                <a16:creationId xmlns:a16="http://schemas.microsoft.com/office/drawing/2014/main" id="{69E516AC-81E4-423B-BF44-537F73DA837A}"/>
              </a:ext>
            </a:extLst>
          </p:cNvPr>
          <p:cNvSpPr>
            <a:spLocks noGrp="1"/>
          </p:cNvSpPr>
          <p:nvPr/>
        </p:nvSpPr>
        <p:spPr>
          <a:xfrm>
            <a:off x="971550" y="1885950"/>
            <a:ext cx="10239375" cy="1362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// Optimizer-visible expression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clean = customers.withColumn(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"email_domain", lower(element_at(split($"email", "@"), 2))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>
            <a:endParaRPr sz="1125" b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// Use a UDF only when built-in expressions cannot express the rule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domainUdf = udf((email: String) =&gt; email.split("@").last.toLowerCase)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35239595-F790-486E-B1CA-B50DCD8E87E5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Built-in expressions remain visible to Catalyst.</a:t>
            </a:r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53D20E0D-2E05-415C-8040-46E4B3277CE3}"/>
              </a:ext>
            </a:extLst>
          </p:cNvPr>
          <p:cNvSpPr>
            <a:spLocks noGrp="1"/>
          </p:cNvSpPr>
          <p:nvPr/>
        </p:nvSpPr>
        <p:spPr>
          <a:xfrm>
            <a:off x="742950" y="42291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UDFs can restrict optimization and add call or serialization overhead.</a:t>
            </a:r>
          </a:p>
        </p:txBody>
      </p:sp>
      <p:sp>
        <p:nvSpPr>
          <p:cNvPr id="11" name="bullet-3">
            <a:extLst>
              <a:ext uri="{FF2B5EF4-FFF2-40B4-BE49-F238E27FC236}">
                <a16:creationId xmlns:a16="http://schemas.microsoft.com/office/drawing/2014/main" id="{2D02772E-184E-4CCB-ADB5-D4234C7FF07B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Measure typed Dataset and object-conversion costs when type safety matters.</a:t>
            </a:r>
          </a:p>
        </p:txBody>
      </p:sp>
    </p:spTree>
    <p:extLst>
      <p:ext uri="{BB962C8B-B14F-4D97-AF65-F5344CB8AC3E}">
        <p14:creationId xmlns:p14="http://schemas.microsoft.com/office/powerpoint/2010/main" val="1087465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3E7F94A6-3081-40B6-9471-3F3DAABA895E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71A6319-6EC8-440D-938B-1402A06040B0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Projection and filtering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8E68D1C6-3E0C-4686-9CAD-A31B85CB6919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4759F80A-7081-4ADD-A498-C0C9CBD72D59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309B2F0-8A68-48C7-979A-3603F3D9305A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29F20457-6761-4FA0-85A7-7649C8478741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7" name="exercise-banner">
            <a:extLst>
              <a:ext uri="{FF2B5EF4-FFF2-40B4-BE49-F238E27FC236}">
                <a16:creationId xmlns:a16="http://schemas.microsoft.com/office/drawing/2014/main" id="{18E7B12E-F379-4839-A72A-8A090952776D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F4C95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exercise-label">
            <a:extLst>
              <a:ext uri="{FF2B5EF4-FFF2-40B4-BE49-F238E27FC236}">
                <a16:creationId xmlns:a16="http://schemas.microsoft.com/office/drawing/2014/main" id="{0D4F9AE0-D7D0-495F-B511-FE9D15782165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2  |  6 minutes</a:t>
            </a:r>
          </a:p>
        </p:txBody>
      </p:sp>
      <p:sp>
        <p:nvSpPr>
          <p:cNvPr id="9" name="exercise-prompt">
            <a:extLst>
              <a:ext uri="{FF2B5EF4-FFF2-40B4-BE49-F238E27FC236}">
                <a16:creationId xmlns:a16="http://schemas.microsoft.com/office/drawing/2014/main" id="{E63AD0C5-6E2E-4A31-BFED-582B39716FA3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Rewrite the pipeline so Spark carries only required data into the join.</a:t>
            </a:r>
          </a:p>
        </p:txBody>
      </p:sp>
      <p:sp>
        <p:nvSpPr>
          <p:cNvPr id="10" name="code-background">
            <a:extLst>
              <a:ext uri="{FF2B5EF4-FFF2-40B4-BE49-F238E27FC236}">
                <a16:creationId xmlns:a16="http://schemas.microsoft.com/office/drawing/2014/main" id="{92D8B943-94BF-43E7-A2C1-E5EEF27E73DB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10629900" cy="1333500"/>
          </a:xfrm>
          <a:prstGeom prst="roundRect">
            <a:avLst>
              <a:gd name="adj" fmla="val 5714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code">
            <a:extLst>
              <a:ext uri="{FF2B5EF4-FFF2-40B4-BE49-F238E27FC236}">
                <a16:creationId xmlns:a16="http://schemas.microsoft.com/office/drawing/2014/main" id="{4A6C107A-E074-4C56-A8DC-2B223BFF21F1}"/>
              </a:ext>
            </a:extLst>
          </p:cNvPr>
          <p:cNvSpPr>
            <a:spLocks noGrp="1"/>
          </p:cNvSpPr>
          <p:nvPr/>
        </p:nvSpPr>
        <p:spPr>
          <a:xfrm>
            <a:off x="971550" y="3124200"/>
            <a:ext cx="102393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result = orders</a:t>
            </a:r>
          </a:p>
          <a:p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.join(customers, Seq("customer_id"))</a:t>
            </a:r>
          </a:p>
          <a:p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.filter($"status" === "PAID")</a:t>
            </a:r>
          </a:p>
          <a:p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.groupBy($"segment")</a:t>
            </a:r>
          </a:p>
          <a:p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.agg(sum($"amount").as("revenue"))</a:t>
            </a:r>
          </a:p>
        </p:txBody>
      </p:sp>
      <p:sp>
        <p:nvSpPr>
          <p:cNvPr id="12" name="bullet-1">
            <a:extLst>
              <a:ext uri="{FF2B5EF4-FFF2-40B4-BE49-F238E27FC236}">
                <a16:creationId xmlns:a16="http://schemas.microsoft.com/office/drawing/2014/main" id="{0A550C6D-87C2-4B52-BB09-ABC142D736DC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Identify required columns on both sides.</a:t>
            </a:r>
          </a:p>
        </p:txBody>
      </p:sp>
      <p:sp>
        <p:nvSpPr>
          <p:cNvPr id="13" name="bullet-2">
            <a:extLst>
              <a:ext uri="{FF2B5EF4-FFF2-40B4-BE49-F238E27FC236}">
                <a16:creationId xmlns:a16="http://schemas.microsoft.com/office/drawing/2014/main" id="{CF980932-523D-44BE-95EA-954D9485F11C}"/>
              </a:ext>
            </a:extLst>
          </p:cNvPr>
          <p:cNvSpPr>
            <a:spLocks noGrp="1"/>
          </p:cNvSpPr>
          <p:nvPr/>
        </p:nvSpPr>
        <p:spPr>
          <a:xfrm>
            <a:off x="742950" y="50863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Move safe filters before the join.</a:t>
            </a:r>
          </a:p>
        </p:txBody>
      </p:sp>
      <p:sp>
        <p:nvSpPr>
          <p:cNvPr id="14" name="bullet-3">
            <a:extLst>
              <a:ext uri="{FF2B5EF4-FFF2-40B4-BE49-F238E27FC236}">
                <a16:creationId xmlns:a16="http://schemas.microsoft.com/office/drawing/2014/main" id="{624EEB30-5094-4329-8B04-574B5A3A0B4C}"/>
              </a:ext>
            </a:extLst>
          </p:cNvPr>
          <p:cNvSpPr>
            <a:spLocks noGrp="1"/>
          </p:cNvSpPr>
          <p:nvPr/>
        </p:nvSpPr>
        <p:spPr>
          <a:xfrm>
            <a:off x="742950" y="56007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State which plan and UI metrics should improve.</a:t>
            </a:r>
          </a:p>
        </p:txBody>
      </p:sp>
    </p:spTree>
    <p:extLst>
      <p:ext uri="{BB962C8B-B14F-4D97-AF65-F5344CB8AC3E}">
        <p14:creationId xmlns:p14="http://schemas.microsoft.com/office/powerpoint/2010/main" val="409301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">
            <a:extLst>
              <a:ext uri="{FF2B5EF4-FFF2-40B4-BE49-F238E27FC236}">
                <a16:creationId xmlns:a16="http://schemas.microsoft.com/office/drawing/2014/main" id="{D19937C9-3474-4DC6-A854-A55DF349B38E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4E2C877-24D5-4893-BBA8-7C0898C0A3EE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Projection and filtering solution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AEEEF23D-D611-4104-B08A-115BA6F89542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B46A9A58-2FF0-4890-8BAF-BD45F9EE630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876D7872-58DF-48A7-AB02-E420DD879F31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E2883C86-D20D-4D8E-9C57-C0B888773E86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7" name="solution-banner">
            <a:extLst>
              <a:ext uri="{FF2B5EF4-FFF2-40B4-BE49-F238E27FC236}">
                <a16:creationId xmlns:a16="http://schemas.microsoft.com/office/drawing/2014/main" id="{E46F2B55-156E-4DFB-B98C-2588BFC1522F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2E7D5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olution-label">
            <a:extLst>
              <a:ext uri="{FF2B5EF4-FFF2-40B4-BE49-F238E27FC236}">
                <a16:creationId xmlns:a16="http://schemas.microsoft.com/office/drawing/2014/main" id="{A962C80A-267B-49E1-9FED-0B934EE20144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2</a:t>
            </a:r>
          </a:p>
        </p:txBody>
      </p:sp>
      <p:sp>
        <p:nvSpPr>
          <p:cNvPr id="9" name="code-background">
            <a:extLst>
              <a:ext uri="{FF2B5EF4-FFF2-40B4-BE49-F238E27FC236}">
                <a16:creationId xmlns:a16="http://schemas.microsoft.com/office/drawing/2014/main" id="{2D8CE2A7-B887-4160-A479-38C50DADF690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10629900" cy="2095500"/>
          </a:xfrm>
          <a:prstGeom prst="roundRect">
            <a:avLst>
              <a:gd name="adj" fmla="val 3636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code">
            <a:extLst>
              <a:ext uri="{FF2B5EF4-FFF2-40B4-BE49-F238E27FC236}">
                <a16:creationId xmlns:a16="http://schemas.microsoft.com/office/drawing/2014/main" id="{5324A98D-E5CE-4138-9A45-DFABB1FBAFF2}"/>
              </a:ext>
            </a:extLst>
          </p:cNvPr>
          <p:cNvSpPr>
            <a:spLocks noGrp="1"/>
          </p:cNvSpPr>
          <p:nvPr/>
        </p:nvSpPr>
        <p:spPr>
          <a:xfrm>
            <a:off x="971550" y="2505075"/>
            <a:ext cx="10239375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paid = orders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.filter($"status" === "PAID")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.select("customer_id", "amount")</a:t>
            </a:r>
          </a:p>
          <a:p>
            <a:endParaRPr sz="1200" b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segments = customers.select("customer_id", "segment")</a:t>
            </a:r>
          </a:p>
          <a:p>
            <a:endParaRPr sz="1200" b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result = paid.join(segments, Seq("customer_id"))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.groupBy($"segment")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.agg(sum($"amount").as("revenue"))</a:t>
            </a:r>
          </a:p>
        </p:txBody>
      </p:sp>
      <p:sp>
        <p:nvSpPr>
          <p:cNvPr id="11" name="note-background">
            <a:extLst>
              <a:ext uri="{FF2B5EF4-FFF2-40B4-BE49-F238E27FC236}">
                <a16:creationId xmlns:a16="http://schemas.microsoft.com/office/drawing/2014/main" id="{7BCF31E1-5409-48A7-831E-8AABEFF9A83C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note-accent">
            <a:extLst>
              <a:ext uri="{FF2B5EF4-FFF2-40B4-BE49-F238E27FC236}">
                <a16:creationId xmlns:a16="http://schemas.microsoft.com/office/drawing/2014/main" id="{279950AC-89E2-4890-AEE2-476BC619517C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note">
            <a:extLst>
              <a:ext uri="{FF2B5EF4-FFF2-40B4-BE49-F238E27FC236}">
                <a16:creationId xmlns:a16="http://schemas.microsoft.com/office/drawing/2014/main" id="{3C0E3878-E13F-40AB-9564-AB70C6585A1F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VERIFY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Compare scan bytes, shuffle volume, join input rows, runtime, and revenue totals. The output must remain identical.</a:t>
            </a:r>
          </a:p>
        </p:txBody>
      </p:sp>
    </p:spTree>
    <p:extLst>
      <p:ext uri="{BB962C8B-B14F-4D97-AF65-F5344CB8AC3E}">
        <p14:creationId xmlns:p14="http://schemas.microsoft.com/office/powerpoint/2010/main" val="1375294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">
            <a:extLst>
              <a:ext uri="{FF2B5EF4-FFF2-40B4-BE49-F238E27FC236}">
                <a16:creationId xmlns:a16="http://schemas.microsoft.com/office/drawing/2014/main" id="{BDA5C86D-881F-4AB4-A622-12EAEAF10C5C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DISTRIBUTED WORK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2CCC42A-3AA0-4235-9FDB-C815BC9D7E08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Partitions and shuffle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12666D92-18D1-4198-B791-6324AC81CBF4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85BEC7C5-75D1-44BE-834F-9556E37F5171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19FC434-86CD-496B-AF95-1813199736D1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2C9717E3-B0FE-48C3-93BD-2C374DF33B4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047F22F9-4885-4C07-88FA-87E020505867}"/>
              </a:ext>
            </a:extLst>
          </p:cNvPr>
          <p:cNvGraphicFramePr/>
          <p:nvPr/>
        </p:nvGraphicFramePr>
        <p:xfrm>
          <a:off x="685800" y="1809750"/>
          <a:ext cx="10820400" cy="2857500"/>
        </p:xfrm>
        <a:graphic>
          <a:graphicData uri="http://schemas.openxmlformats.org/drawingml/2006/table">
            <a:tbl>
              <a:tblPr firstRow="1" bandRow="1"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Behavior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Typical use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repartition(n)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Full redistribution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Rebalance before wide work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repartition(n, key)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Hash distribution by key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Align work around a join or aggregate key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coalesce(n)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Usually reduces without full shuffle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Reduce tiny partitions after filtering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partitionBy on write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Creates a storage layout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Enable downstream pruning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note-background">
            <a:extLst>
              <a:ext uri="{FF2B5EF4-FFF2-40B4-BE49-F238E27FC236}">
                <a16:creationId xmlns:a16="http://schemas.microsoft.com/office/drawing/2014/main" id="{64AB8899-876A-4235-A5CA-F3F3C4AF8C4C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note-accent">
            <a:extLst>
              <a:ext uri="{FF2B5EF4-FFF2-40B4-BE49-F238E27FC236}">
                <a16:creationId xmlns:a16="http://schemas.microsoft.com/office/drawing/2014/main" id="{09D60A2E-FC3E-43F5-8363-5DE59F26A7F1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note">
            <a:extLst>
              <a:ext uri="{FF2B5EF4-FFF2-40B4-BE49-F238E27FC236}">
                <a16:creationId xmlns:a16="http://schemas.microsoft.com/office/drawing/2014/main" id="{FEF9E486-97E8-4686-AB52-8A4B05851563}"/>
              </a:ext>
            </a:extLst>
          </p:cNvPr>
          <p:cNvSpPr>
            <a:spLocks noGrp="1"/>
          </p:cNvSpPr>
          <p:nvPr/>
        </p:nvSpPr>
        <p:spPr>
          <a:xfrm>
            <a:off x="895350" y="582930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NO MAGIC NUMBER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Choose partition counts from data size, cluster cores, task duration, skew, and target file size.</a:t>
            </a:r>
          </a:p>
        </p:txBody>
      </p:sp>
    </p:spTree>
    <p:extLst>
      <p:ext uri="{BB962C8B-B14F-4D97-AF65-F5344CB8AC3E}">
        <p14:creationId xmlns:p14="http://schemas.microsoft.com/office/powerpoint/2010/main" val="359594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77EBBFC4-1D75-4D37-8775-106F2766067B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DISTRIBUTED WORK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7BADEAF-D32F-4971-A5C5-5748A7506E8A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Join strategies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4181718D-7F90-4AC2-8AE0-F35221746766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C6269278-95F5-4DAE-90F8-1A84C66698CD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48C3B238-2706-4CAC-B35B-DFFD5F104DC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0D25C355-9645-40FA-B0BC-2286EEBE0D0E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15D7FA81-06FC-464A-A105-7A338F07BF3B}"/>
              </a:ext>
            </a:extLst>
          </p:cNvPr>
          <p:cNvGraphicFramePr/>
          <p:nvPr/>
        </p:nvGraphicFramePr>
        <p:xfrm>
          <a:off x="685800" y="1714500"/>
          <a:ext cx="10820400" cy="2857500"/>
        </p:xfrm>
        <a:graphic>
          <a:graphicData uri="http://schemas.openxmlformats.org/drawingml/2006/table">
            <a:tbl>
              <a:tblPr firstRow="1" band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Situation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Likely strategy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to check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Tiny dimension and large fact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Broadcast hash join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Broadcast size and executor memory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large equality inputs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Sort merge or shuffled hash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 volume and balance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 dirty="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Very frequent keys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dirty="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AQE skew handling or selective salting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Slowest task versus median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Non-equality or cross condition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dirty="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Possible nested-loop behavior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dirty="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Cardinality explosion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ode-background">
            <a:extLst>
              <a:ext uri="{FF2B5EF4-FFF2-40B4-BE49-F238E27FC236}">
                <a16:creationId xmlns:a16="http://schemas.microsoft.com/office/drawing/2014/main" id="{D50DD234-1DDB-4917-9AE7-25A588C8E59B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10629900" cy="781050"/>
          </a:xfrm>
          <a:prstGeom prst="roundRect">
            <a:avLst>
              <a:gd name="adj" fmla="val 9756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code">
            <a:extLst>
              <a:ext uri="{FF2B5EF4-FFF2-40B4-BE49-F238E27FC236}">
                <a16:creationId xmlns:a16="http://schemas.microsoft.com/office/drawing/2014/main" id="{1E6AA309-1A95-4544-94B6-E58A615BB27D}"/>
              </a:ext>
            </a:extLst>
          </p:cNvPr>
          <p:cNvSpPr>
            <a:spLocks noGrp="1"/>
          </p:cNvSpPr>
          <p:nvPr/>
        </p:nvSpPr>
        <p:spPr>
          <a:xfrm>
            <a:off x="971550" y="5029200"/>
            <a:ext cx="10239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806"/>
          </a:bodyPr>
          <a:lstStyle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activeCountries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countries.filter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($"active" === true)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enriched = </a:t>
            </a: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orders.join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(broadcast(</a:t>
            </a: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activeCountries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),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$"country" === $"</a:t>
            </a:r>
            <a:r>
              <a:rPr sz="1200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country_code</a:t>
            </a:r>
            <a:r>
              <a:rPr sz="1200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174692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6E54AE91-0299-4F3A-B9CA-5CC466BD64F4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7F953A6-AF5F-431C-8AFF-EE21D5110E7C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Broadcast comparison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1420EC32-6FDD-4744-855E-B5176C0F284B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C57B68EB-9536-41EF-A56E-992D9377FBC2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7D718C9-71F4-4F86-90C4-860FC39C130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FCCBD000-0E0E-49D7-99DB-EC8910FCE6A4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7" name="exercise-banner">
            <a:extLst>
              <a:ext uri="{FF2B5EF4-FFF2-40B4-BE49-F238E27FC236}">
                <a16:creationId xmlns:a16="http://schemas.microsoft.com/office/drawing/2014/main" id="{22C6E7A7-3F89-4F73-AD57-9E2C8B2BB9D2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F4C95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exercise-label">
            <a:extLst>
              <a:ext uri="{FF2B5EF4-FFF2-40B4-BE49-F238E27FC236}">
                <a16:creationId xmlns:a16="http://schemas.microsoft.com/office/drawing/2014/main" id="{3BA43239-AF4C-47B3-94F5-39F45EB59CFB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3  |  8 minutes</a:t>
            </a:r>
          </a:p>
        </p:txBody>
      </p:sp>
      <p:sp>
        <p:nvSpPr>
          <p:cNvPr id="9" name="exercise-prompt">
            <a:extLst>
              <a:ext uri="{FF2B5EF4-FFF2-40B4-BE49-F238E27FC236}">
                <a16:creationId xmlns:a16="http://schemas.microsoft.com/office/drawing/2014/main" id="{7A5F8D83-65AA-42E0-AE23-11E8C29CC9CF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Compare the normal join with an explicit broadcast of countries.</a:t>
            </a:r>
          </a:p>
        </p:txBody>
      </p:sp>
      <p:sp>
        <p:nvSpPr>
          <p:cNvPr id="10" name="code-background">
            <a:extLst>
              <a:ext uri="{FF2B5EF4-FFF2-40B4-BE49-F238E27FC236}">
                <a16:creationId xmlns:a16="http://schemas.microsoft.com/office/drawing/2014/main" id="{DF2915B4-E165-41A5-827C-0E3EC23EE9F4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10629900" cy="1333500"/>
          </a:xfrm>
          <a:prstGeom prst="roundRect">
            <a:avLst>
              <a:gd name="adj" fmla="val 5714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code">
            <a:extLst>
              <a:ext uri="{FF2B5EF4-FFF2-40B4-BE49-F238E27FC236}">
                <a16:creationId xmlns:a16="http://schemas.microsoft.com/office/drawing/2014/main" id="{8995CA66-AD9F-411B-99E7-5D01B34726CE}"/>
              </a:ext>
            </a:extLst>
          </p:cNvPr>
          <p:cNvSpPr>
            <a:spLocks noGrp="1"/>
          </p:cNvSpPr>
          <p:nvPr/>
        </p:nvSpPr>
        <p:spPr>
          <a:xfrm>
            <a:off x="971550" y="3076575"/>
            <a:ext cx="102393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normalJoin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orders.join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(countries, $"country" === $"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country_code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")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broadcastJoin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orders.join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(broadcast(countries),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$"country" === $"</a:t>
            </a: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country_code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")</a:t>
            </a:r>
          </a:p>
          <a:p>
            <a:endParaRPr sz="1125" b="0" dirty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normalJoin.explain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("formatted")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dirty="0" err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broadcastJoin.explain</a:t>
            </a:r>
            <a:r>
              <a:rPr sz="1125" b="0" dirty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("formatted")</a:t>
            </a:r>
          </a:p>
        </p:txBody>
      </p:sp>
      <p:sp>
        <p:nvSpPr>
          <p:cNvPr id="12" name="bullet-1">
            <a:extLst>
              <a:ext uri="{FF2B5EF4-FFF2-40B4-BE49-F238E27FC236}">
                <a16:creationId xmlns:a16="http://schemas.microsoft.com/office/drawing/2014/main" id="{B760FBB2-673B-4B89-8CED-6F0226E40710}"/>
              </a:ext>
            </a:extLst>
          </p:cNvPr>
          <p:cNvSpPr>
            <a:spLocks noGrp="1"/>
          </p:cNvSpPr>
          <p:nvPr/>
        </p:nvSpPr>
        <p:spPr>
          <a:xfrm>
            <a:off x="742950" y="45243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Record the physical join operator.</a:t>
            </a:r>
          </a:p>
        </p:txBody>
      </p:sp>
      <p:sp>
        <p:nvSpPr>
          <p:cNvPr id="13" name="bullet-2">
            <a:extLst>
              <a:ext uri="{FF2B5EF4-FFF2-40B4-BE49-F238E27FC236}">
                <a16:creationId xmlns:a16="http://schemas.microsoft.com/office/drawing/2014/main" id="{FA7EBBA6-0A59-403D-8CE7-91D754FFFC46}"/>
              </a:ext>
            </a:extLst>
          </p:cNvPr>
          <p:cNvSpPr>
            <a:spLocks noGrp="1"/>
          </p:cNvSpPr>
          <p:nvPr/>
        </p:nvSpPr>
        <p:spPr>
          <a:xfrm>
            <a:off x="742950" y="50387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Compare shuffle read and write.</a:t>
            </a:r>
          </a:p>
        </p:txBody>
      </p:sp>
      <p:sp>
        <p:nvSpPr>
          <p:cNvPr id="14" name="bullet-3">
            <a:extLst>
              <a:ext uri="{FF2B5EF4-FFF2-40B4-BE49-F238E27FC236}">
                <a16:creationId xmlns:a16="http://schemas.microsoft.com/office/drawing/2014/main" id="{B84FB55B-8B4F-470A-9AA3-E1D852AF2FBB}"/>
              </a:ext>
            </a:extLst>
          </p:cNvPr>
          <p:cNvSpPr>
            <a:spLocks noGrp="1"/>
          </p:cNvSpPr>
          <p:nvPr/>
        </p:nvSpPr>
        <p:spPr>
          <a:xfrm>
            <a:off x="742950" y="55530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Explain why broadcasting customers may be unsafe at larger scale.</a:t>
            </a:r>
          </a:p>
        </p:txBody>
      </p:sp>
    </p:spTree>
    <p:extLst>
      <p:ext uri="{BB962C8B-B14F-4D97-AF65-F5344CB8AC3E}">
        <p14:creationId xmlns:p14="http://schemas.microsoft.com/office/powerpoint/2010/main" val="1520430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5E132A77-2543-4E13-866B-90A08ED08078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A20533A-20E4-4F09-9949-2A2EA80623DA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Broadcast comparison solution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A1D521AD-A7E3-4270-BD33-9B0A5FC1234D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C7B224D5-0D55-4F86-8650-ABD37373D764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12D1244-9A02-48C9-8018-BCCA6E785D4F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6F79168D-C1B5-439C-B83B-B2DD31F198EE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7" name="solution-banner">
            <a:extLst>
              <a:ext uri="{FF2B5EF4-FFF2-40B4-BE49-F238E27FC236}">
                <a16:creationId xmlns:a16="http://schemas.microsoft.com/office/drawing/2014/main" id="{09F1A285-5A6E-4609-B39E-668740FB2D18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2E7D5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olution-label">
            <a:extLst>
              <a:ext uri="{FF2B5EF4-FFF2-40B4-BE49-F238E27FC236}">
                <a16:creationId xmlns:a16="http://schemas.microsoft.com/office/drawing/2014/main" id="{8686EA8A-CF42-44FC-907B-ED74A9FBCF74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3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8E1713E5-3E7B-4365-8FD8-75EE5F512745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countries should produce BroadcastExchange and BroadcastHashJoin when the hint is accepted.</a:t>
            </a:r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6E21237C-1A3F-472F-B870-5B90EF3D5B4B}"/>
              </a:ext>
            </a:extLst>
          </p:cNvPr>
          <p:cNvSpPr>
            <a:spLocks noGrp="1"/>
          </p:cNvSpPr>
          <p:nvPr/>
        </p:nvSpPr>
        <p:spPr>
          <a:xfrm>
            <a:off x="742950" y="29622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The large orders side should avoid a join shuffle.</a:t>
            </a:r>
          </a:p>
        </p:txBody>
      </p:sp>
      <p:sp>
        <p:nvSpPr>
          <p:cNvPr id="11" name="bullet-3">
            <a:extLst>
              <a:ext uri="{FF2B5EF4-FFF2-40B4-BE49-F238E27FC236}">
                <a16:creationId xmlns:a16="http://schemas.microsoft.com/office/drawing/2014/main" id="{4555EEB6-A2D5-478F-861E-BEC3BBB8692B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 broadcast copy lives on every executor, so memory limits the safe size.</a:t>
            </a:r>
          </a:p>
        </p:txBody>
      </p:sp>
      <p:sp>
        <p:nvSpPr>
          <p:cNvPr id="12" name="bullet-4">
            <a:extLst>
              <a:ext uri="{FF2B5EF4-FFF2-40B4-BE49-F238E27FC236}">
                <a16:creationId xmlns:a16="http://schemas.microsoft.com/office/drawing/2014/main" id="{014312D4-D607-4CF6-9C56-787C58AD21CE}"/>
              </a:ext>
            </a:extLst>
          </p:cNvPr>
          <p:cNvSpPr>
            <a:spLocks noGrp="1"/>
          </p:cNvSpPr>
          <p:nvPr/>
        </p:nvSpPr>
        <p:spPr>
          <a:xfrm>
            <a:off x="742950" y="41243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Prefer credible statistics and Spark's automatic choice when possible.</a:t>
            </a:r>
          </a:p>
        </p:txBody>
      </p:sp>
    </p:spTree>
    <p:extLst>
      <p:ext uri="{BB962C8B-B14F-4D97-AF65-F5344CB8AC3E}">
        <p14:creationId xmlns:p14="http://schemas.microsoft.com/office/powerpoint/2010/main" val="863845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5AB9DDE3-CD4B-44C4-A89E-2FA896DD1974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DISTRIBUTED WORK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BEF5B84-0048-4B76-AF28-3767C94A832C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Data skew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6B854F82-204E-4257-9F22-354B545C73F8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ECC6A4F2-6822-49DC-A512-5BAC1D878D7C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32A1299C-F39A-482F-9954-10ECE3739D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ED8E3C69-0727-4D38-9373-467B21A28A77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7" name="code-background">
            <a:extLst>
              <a:ext uri="{FF2B5EF4-FFF2-40B4-BE49-F238E27FC236}">
                <a16:creationId xmlns:a16="http://schemas.microsoft.com/office/drawing/2014/main" id="{3A9DD4FC-057C-4172-941A-74B3EAC6CDF3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10629900" cy="838200"/>
          </a:xfrm>
          <a:prstGeom prst="roundRect">
            <a:avLst>
              <a:gd name="adj" fmla="val 9091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code">
            <a:extLst>
              <a:ext uri="{FF2B5EF4-FFF2-40B4-BE49-F238E27FC236}">
                <a16:creationId xmlns:a16="http://schemas.microsoft.com/office/drawing/2014/main" id="{D5158B63-AB16-49EC-AFDF-38E5F9D47AD4}"/>
              </a:ext>
            </a:extLst>
          </p:cNvPr>
          <p:cNvSpPr>
            <a:spLocks noGrp="1"/>
          </p:cNvSpPr>
          <p:nvPr/>
        </p:nvSpPr>
        <p:spPr>
          <a:xfrm>
            <a:off x="971550" y="1933575"/>
            <a:ext cx="10239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503"/>
          </a:bodyPr>
          <a:lstStyle>
            <a:def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orders.groupBy($"customer_id").count()</a:t>
            </a:r>
          </a:p>
          <a:p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.orderBy(desc("count"))</a:t>
            </a:r>
          </a:p>
          <a:p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.show(10, truncate = false)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27FEDEF6-A925-4ABA-9DDF-D9E2E2314AFB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 skewed key creates an oversized partition and a long-running task.</a:t>
            </a:r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37F8BD43-7DA1-4234-B906-08002ACA9CFC}"/>
              </a:ext>
            </a:extLst>
          </p:cNvPr>
          <p:cNvSpPr>
            <a:spLocks noGrp="1"/>
          </p:cNvSpPr>
          <p:nvPr/>
        </p:nvSpPr>
        <p:spPr>
          <a:xfrm>
            <a:off x="742950" y="35147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Compare maximum task duration and input with the median.</a:t>
            </a:r>
          </a:p>
        </p:txBody>
      </p:sp>
      <p:sp>
        <p:nvSpPr>
          <p:cNvPr id="11" name="bullet-3">
            <a:extLst>
              <a:ext uri="{FF2B5EF4-FFF2-40B4-BE49-F238E27FC236}">
                <a16:creationId xmlns:a16="http://schemas.microsoft.com/office/drawing/2014/main" id="{6992D2FC-9C1F-404F-A8B8-D04F1B473FB6}"/>
              </a:ext>
            </a:extLst>
          </p:cNvPr>
          <p:cNvSpPr>
            <a:spLocks noGrp="1"/>
          </p:cNvSpPr>
          <p:nvPr/>
        </p:nvSpPr>
        <p:spPr>
          <a:xfrm>
            <a:off x="742950" y="40767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AQE can split skewed shuffle partitions at runtime.</a:t>
            </a:r>
          </a:p>
        </p:txBody>
      </p:sp>
      <p:sp>
        <p:nvSpPr>
          <p:cNvPr id="12" name="bullet-4">
            <a:extLst>
              <a:ext uri="{FF2B5EF4-FFF2-40B4-BE49-F238E27FC236}">
                <a16:creationId xmlns:a16="http://schemas.microsoft.com/office/drawing/2014/main" id="{209461ED-C50C-476B-BDEB-7A47836593CF}"/>
              </a:ext>
            </a:extLst>
          </p:cNvPr>
          <p:cNvSpPr>
            <a:spLocks noGrp="1"/>
          </p:cNvSpPr>
          <p:nvPr/>
        </p:nvSpPr>
        <p:spPr>
          <a:xfrm>
            <a:off x="742950" y="46386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Process exceptional keys separately or salt only confirmed hot keys.</a:t>
            </a:r>
          </a:p>
        </p:txBody>
      </p:sp>
      <p:sp>
        <p:nvSpPr>
          <p:cNvPr id="13" name="note-background">
            <a:extLst>
              <a:ext uri="{FF2B5EF4-FFF2-40B4-BE49-F238E27FC236}">
                <a16:creationId xmlns:a16="http://schemas.microsoft.com/office/drawing/2014/main" id="{B5347551-D545-4245-80BF-55061D734B8F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note-accent">
            <a:extLst>
              <a:ext uri="{FF2B5EF4-FFF2-40B4-BE49-F238E27FC236}">
                <a16:creationId xmlns:a16="http://schemas.microsoft.com/office/drawing/2014/main" id="{57A56902-5A96-4262-8945-CE57DD65E887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note">
            <a:extLst>
              <a:ext uri="{FF2B5EF4-FFF2-40B4-BE49-F238E27FC236}">
                <a16:creationId xmlns:a16="http://schemas.microsoft.com/office/drawing/2014/main" id="{D798817D-B31B-4EE6-A36C-2DF0C1D01004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KNOWN HOT KEY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customer_id 42 appears in about 22% of generated orders.</a:t>
            </a:r>
          </a:p>
        </p:txBody>
      </p:sp>
    </p:spTree>
    <p:extLst>
      <p:ext uri="{BB962C8B-B14F-4D97-AF65-F5344CB8AC3E}">
        <p14:creationId xmlns:p14="http://schemas.microsoft.com/office/powerpoint/2010/main" val="1501203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B15D7880-EB75-4526-9BFD-BC43BBF07904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3B31134-E6C8-4709-9537-6FB98C71A6FE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Skew investigation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5E1E0EA5-13FD-4694-823C-C77E8A5ED3E2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A29BDCC5-293A-4D44-BE4D-561122F65753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5FB14086-0DF2-49E9-B3F9-EFD7EE09174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56B37686-2FE9-4C11-B632-81F036DD036D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7" name="exercise-banner">
            <a:extLst>
              <a:ext uri="{FF2B5EF4-FFF2-40B4-BE49-F238E27FC236}">
                <a16:creationId xmlns:a16="http://schemas.microsoft.com/office/drawing/2014/main" id="{CDC808CC-58D2-4A9A-8E56-6D9402350544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F4C95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exercise-label">
            <a:extLst>
              <a:ext uri="{FF2B5EF4-FFF2-40B4-BE49-F238E27FC236}">
                <a16:creationId xmlns:a16="http://schemas.microsoft.com/office/drawing/2014/main" id="{0320D0A5-B9E5-480D-8748-2757AB717286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4  |  6 minutes</a:t>
            </a:r>
          </a:p>
        </p:txBody>
      </p:sp>
      <p:sp>
        <p:nvSpPr>
          <p:cNvPr id="9" name="exercise-prompt">
            <a:extLst>
              <a:ext uri="{FF2B5EF4-FFF2-40B4-BE49-F238E27FC236}">
                <a16:creationId xmlns:a16="http://schemas.microsoft.com/office/drawing/2014/main" id="{FA7FF082-C2B6-4D40-A8D3-4CFB995B6107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Prove that the workload is skewed before proposing a fix.</a:t>
            </a:r>
          </a:p>
        </p:txBody>
      </p:sp>
      <p:sp>
        <p:nvSpPr>
          <p:cNvPr id="10" name="bullet-1">
            <a:extLst>
              <a:ext uri="{FF2B5EF4-FFF2-40B4-BE49-F238E27FC236}">
                <a16:creationId xmlns:a16="http://schemas.microsoft.com/office/drawing/2014/main" id="{1CE8F5C6-36D3-4E3D-B801-7508E22BE780}"/>
              </a:ext>
            </a:extLst>
          </p:cNvPr>
          <p:cNvSpPr>
            <a:spLocks noGrp="1"/>
          </p:cNvSpPr>
          <p:nvPr/>
        </p:nvSpPr>
        <p:spPr>
          <a:xfrm>
            <a:off x="742950" y="30956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Run the customer frequency query and identify the top key.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B97D475C-3F60-4B41-95F2-743AB7C61FB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Run a customer aggregation and open stage details.</a:t>
            </a:r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78503B14-99BB-4BE0-B5A0-0DA58452BEE2}"/>
              </a:ext>
            </a:extLst>
          </p:cNvPr>
          <p:cNvSpPr>
            <a:spLocks noGrp="1"/>
          </p:cNvSpPr>
          <p:nvPr/>
        </p:nvSpPr>
        <p:spPr>
          <a:xfrm>
            <a:off x="742950" y="41433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Record median and maximum task duration, shuffle read, and spill.</a:t>
            </a:r>
          </a:p>
        </p:txBody>
      </p:sp>
      <p:sp>
        <p:nvSpPr>
          <p:cNvPr id="13" name="bullet-4">
            <a:extLst>
              <a:ext uri="{FF2B5EF4-FFF2-40B4-BE49-F238E27FC236}">
                <a16:creationId xmlns:a16="http://schemas.microsoft.com/office/drawing/2014/main" id="{969380E5-E87D-4D39-94E6-16B6FE27A271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Check the final adaptive plan for skew handling.</a:t>
            </a:r>
          </a:p>
        </p:txBody>
      </p:sp>
      <p:sp>
        <p:nvSpPr>
          <p:cNvPr id="14" name="bullet-5">
            <a:extLst>
              <a:ext uri="{FF2B5EF4-FFF2-40B4-BE49-F238E27FC236}">
                <a16:creationId xmlns:a16="http://schemas.microsoft.com/office/drawing/2014/main" id="{09BE8CFB-72E4-4D13-921E-3DE898B36E50}"/>
              </a:ext>
            </a:extLst>
          </p:cNvPr>
          <p:cNvSpPr>
            <a:spLocks noGrp="1"/>
          </p:cNvSpPr>
          <p:nvPr/>
        </p:nvSpPr>
        <p:spPr>
          <a:xfrm>
            <a:off x="742950" y="51911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Propose the least complex fix supported by evidence.</a:t>
            </a:r>
          </a:p>
        </p:txBody>
      </p:sp>
    </p:spTree>
    <p:extLst>
      <p:ext uri="{BB962C8B-B14F-4D97-AF65-F5344CB8AC3E}">
        <p14:creationId xmlns:p14="http://schemas.microsoft.com/office/powerpoint/2010/main" val="620317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">
            <a:extLst>
              <a:ext uri="{FF2B5EF4-FFF2-40B4-BE49-F238E27FC236}">
                <a16:creationId xmlns:a16="http://schemas.microsoft.com/office/drawing/2014/main" id="{8415B0A0-AD4A-42F7-A87F-902990D9194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8CE166C-C8D6-4E5B-83B1-42205452E14C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Skew investigation solution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055CE416-4CDF-48F9-85EF-EBDD3125320D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DEBBB256-5AF8-4CAF-B5CB-7155D0EC8ED4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11112126-712E-428C-BF30-45BEC724E43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FA6865ED-4140-4178-BE99-4D4B27BD2FC6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7" name="solution-banner">
            <a:extLst>
              <a:ext uri="{FF2B5EF4-FFF2-40B4-BE49-F238E27FC236}">
                <a16:creationId xmlns:a16="http://schemas.microsoft.com/office/drawing/2014/main" id="{941983DB-0FA3-45F7-94F5-0BAF0FA790FB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2E7D5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olution-label">
            <a:extLst>
              <a:ext uri="{FF2B5EF4-FFF2-40B4-BE49-F238E27FC236}">
                <a16:creationId xmlns:a16="http://schemas.microsoft.com/office/drawing/2014/main" id="{A34E8CD2-8454-4A28-B633-C16E3B394B1F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4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471EEFD9-3D8F-4C7D-A404-9DB4901DA9F6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Key 42 should dominate the frequency distribution.</a:t>
            </a:r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5B40791D-B44E-4797-B32B-DCBAC270DA87}"/>
              </a:ext>
            </a:extLst>
          </p:cNvPr>
          <p:cNvSpPr>
            <a:spLocks noGrp="1"/>
          </p:cNvSpPr>
          <p:nvPr/>
        </p:nvSpPr>
        <p:spPr>
          <a:xfrm>
            <a:off x="742950" y="29432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One or a few reduce tasks may process much more input than the median.</a:t>
            </a:r>
          </a:p>
        </p:txBody>
      </p:sp>
      <p:sp>
        <p:nvSpPr>
          <p:cNvPr id="11" name="bullet-3">
            <a:extLst>
              <a:ext uri="{FF2B5EF4-FFF2-40B4-BE49-F238E27FC236}">
                <a16:creationId xmlns:a16="http://schemas.microsoft.com/office/drawing/2014/main" id="{4B09B780-972F-4308-A58D-CD80E2665945}"/>
              </a:ext>
            </a:extLst>
          </p:cNvPr>
          <p:cNvSpPr>
            <a:spLocks noGrp="1"/>
          </p:cNvSpPr>
          <p:nvPr/>
        </p:nvSpPr>
        <p:spPr>
          <a:xfrm>
            <a:off x="742950" y="35052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Keep AQE enabled and inspect whether Spark splits the skewed partition.</a:t>
            </a:r>
          </a:p>
        </p:txBody>
      </p:sp>
      <p:sp>
        <p:nvSpPr>
          <p:cNvPr id="12" name="bullet-4">
            <a:extLst>
              <a:ext uri="{FF2B5EF4-FFF2-40B4-BE49-F238E27FC236}">
                <a16:creationId xmlns:a16="http://schemas.microsoft.com/office/drawing/2014/main" id="{94A32398-17E6-4629-91B0-EFD7AD44FBF2}"/>
              </a:ext>
            </a:extLst>
          </p:cNvPr>
          <p:cNvSpPr>
            <a:spLocks noGrp="1"/>
          </p:cNvSpPr>
          <p:nvPr/>
        </p:nvSpPr>
        <p:spPr>
          <a:xfrm>
            <a:off x="742950" y="4067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If AQE is insufficient, isolate key 42 when business logic allows.</a:t>
            </a:r>
          </a:p>
        </p:txBody>
      </p:sp>
      <p:sp>
        <p:nvSpPr>
          <p:cNvPr id="13" name="bullet-5">
            <a:extLst>
              <a:ext uri="{FF2B5EF4-FFF2-40B4-BE49-F238E27FC236}">
                <a16:creationId xmlns:a16="http://schemas.microsoft.com/office/drawing/2014/main" id="{BA4E2DBD-AFEF-4CCE-B23C-1E05BE1D1DA8}"/>
              </a:ext>
            </a:extLst>
          </p:cNvPr>
          <p:cNvSpPr>
            <a:spLocks noGrp="1"/>
          </p:cNvSpPr>
          <p:nvPr/>
        </p:nvSpPr>
        <p:spPr>
          <a:xfrm>
            <a:off x="742950" y="46291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Adding executors alone does not split one oversized partition.</a:t>
            </a:r>
          </a:p>
        </p:txBody>
      </p:sp>
    </p:spTree>
    <p:extLst>
      <p:ext uri="{BB962C8B-B14F-4D97-AF65-F5344CB8AC3E}">
        <p14:creationId xmlns:p14="http://schemas.microsoft.com/office/powerpoint/2010/main" val="1822980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470B9CF1-6689-4882-A7DE-F4C4FC72C348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CACHE AND STORAGE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6B7E3E4-A929-4EE7-AE73-41D3B101D495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Persistence decisions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9C724710-2734-4850-9A9E-7EC999AA769C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5331FC69-7E2B-4424-A1E6-B6EBCFA4BD4C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3594A74-A9BB-499E-AE16-61C7121613A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5237EC3E-A58E-476B-86CD-A49989A21B9E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13229BC6-93A2-4E48-8CAF-83DA06F83EB8}"/>
              </a:ext>
            </a:extLst>
          </p:cNvPr>
          <p:cNvGraphicFramePr/>
          <p:nvPr/>
        </p:nvGraphicFramePr>
        <p:xfrm>
          <a:off x="685800" y="1714500"/>
          <a:ext cx="10820400" cy="2667000"/>
        </p:xfrm>
        <a:graphic>
          <a:graphicData uri="http://schemas.openxmlformats.org/drawingml/2006/table">
            <a:tbl>
              <a:tblPr firstRow="1" bandRow="1"/>
              <a:tblGrid>
                <a:gridCol w="541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Cache when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Avoid caching when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125" dirty="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same expensive result feeds several actions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data is used once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Recomputation is expensive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source scan is cheap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persisted form fits the storage budget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 causes eviction, GC, or spill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stable snapshot is acceptable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dirty="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Every action must read new source data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ode-background">
            <a:extLst>
              <a:ext uri="{FF2B5EF4-FFF2-40B4-BE49-F238E27FC236}">
                <a16:creationId xmlns:a16="http://schemas.microsoft.com/office/drawing/2014/main" id="{C228050E-4C55-4B4F-B319-C07768C64354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10629900" cy="904875"/>
          </a:xfrm>
          <a:prstGeom prst="roundRect">
            <a:avLst>
              <a:gd name="adj" fmla="val 8421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code">
            <a:extLst>
              <a:ext uri="{FF2B5EF4-FFF2-40B4-BE49-F238E27FC236}">
                <a16:creationId xmlns:a16="http://schemas.microsoft.com/office/drawing/2014/main" id="{E8B610FB-EC4C-4FF2-9C44-F9B964AFF513}"/>
              </a:ext>
            </a:extLst>
          </p:cNvPr>
          <p:cNvSpPr>
            <a:spLocks noGrp="1"/>
          </p:cNvSpPr>
          <p:nvPr/>
        </p:nvSpPr>
        <p:spPr>
          <a:xfrm>
            <a:off x="971550" y="4933950"/>
            <a:ext cx="1023937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031"/>
          </a:bodyPr>
          <a:lstStyle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base = events.filter($"event_date" &gt;= "2026-10-15")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.persist(StorageLevel.MEMORY_AND_DISK)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// two actions use base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base.unpersist()</a:t>
            </a:r>
          </a:p>
        </p:txBody>
      </p:sp>
    </p:spTree>
    <p:extLst>
      <p:ext uri="{BB962C8B-B14F-4D97-AF65-F5344CB8AC3E}">
        <p14:creationId xmlns:p14="http://schemas.microsoft.com/office/powerpoint/2010/main" val="1568372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29A1A0D3-1389-4925-80B9-962175AEEE77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0B495CD-5C3C-43E0-8042-98AA92521397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Cache reuse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3278FB93-7C48-47C7-8516-BE246155790E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F4F9D618-7202-4E05-98F9-D4EA7CF41C31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AFE0DEE-D31C-45C4-A5C7-89C541287BE3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37D32D69-DBED-4F8A-966A-A55F9BC6AC8C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7" name="exercise-banner">
            <a:extLst>
              <a:ext uri="{FF2B5EF4-FFF2-40B4-BE49-F238E27FC236}">
                <a16:creationId xmlns:a16="http://schemas.microsoft.com/office/drawing/2014/main" id="{F3656C11-6434-4A23-AF0F-7E152CB4B645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F4C95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exercise-label">
            <a:extLst>
              <a:ext uri="{FF2B5EF4-FFF2-40B4-BE49-F238E27FC236}">
                <a16:creationId xmlns:a16="http://schemas.microsoft.com/office/drawing/2014/main" id="{83375D49-B59D-4780-B120-A2A8AB44643D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5  |  6 minutes</a:t>
            </a:r>
          </a:p>
        </p:txBody>
      </p:sp>
      <p:sp>
        <p:nvSpPr>
          <p:cNvPr id="9" name="exercise-prompt">
            <a:extLst>
              <a:ext uri="{FF2B5EF4-FFF2-40B4-BE49-F238E27FC236}">
                <a16:creationId xmlns:a16="http://schemas.microsoft.com/office/drawing/2014/main" id="{8BA66829-2129-4DBE-905F-906F6A337189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Measure two actions on the same filtered event data with and without persistence.</a:t>
            </a:r>
          </a:p>
        </p:txBody>
      </p:sp>
      <p:sp>
        <p:nvSpPr>
          <p:cNvPr id="10" name="code-background">
            <a:extLst>
              <a:ext uri="{FF2B5EF4-FFF2-40B4-BE49-F238E27FC236}">
                <a16:creationId xmlns:a16="http://schemas.microsoft.com/office/drawing/2014/main" id="{E355E826-C9A3-4B94-AE7E-63DEBF622E1D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10629900" cy="952500"/>
          </a:xfrm>
          <a:prstGeom prst="roundRect">
            <a:avLst>
              <a:gd name="adj" fmla="val 8000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code">
            <a:extLst>
              <a:ext uri="{FF2B5EF4-FFF2-40B4-BE49-F238E27FC236}">
                <a16:creationId xmlns:a16="http://schemas.microsoft.com/office/drawing/2014/main" id="{F8E6D032-4CE5-4E9A-A943-55C13FE69C60}"/>
              </a:ext>
            </a:extLst>
          </p:cNvPr>
          <p:cNvSpPr>
            <a:spLocks noGrp="1"/>
          </p:cNvSpPr>
          <p:nvPr/>
        </p:nvSpPr>
        <p:spPr>
          <a:xfrm>
            <a:off x="971550" y="3124200"/>
            <a:ext cx="102393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542"/>
          </a:bodyPr>
          <a:lstStyle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base = events.filter($"event_type" =!= "view")</a:t>
            </a:r>
          </a:p>
          <a:p>
            <a:endParaRPr sz="1200" b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base.groupBy("event_type").count().count()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base.groupBy("user_id").agg(sum("value")).count()</a:t>
            </a:r>
          </a:p>
        </p:txBody>
      </p:sp>
      <p:sp>
        <p:nvSpPr>
          <p:cNvPr id="12" name="bullet-1">
            <a:extLst>
              <a:ext uri="{FF2B5EF4-FFF2-40B4-BE49-F238E27FC236}">
                <a16:creationId xmlns:a16="http://schemas.microsoft.com/office/drawing/2014/main" id="{70063044-BF1A-4F50-8922-836C6BE04350}"/>
              </a:ext>
            </a:extLst>
          </p:cNvPr>
          <p:cNvSpPr>
            <a:spLocks noGrp="1"/>
          </p:cNvSpPr>
          <p:nvPr/>
        </p:nvSpPr>
        <p:spPr>
          <a:xfrm>
            <a:off x="742950" y="41910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Record both action times without caching.</a:t>
            </a:r>
          </a:p>
        </p:txBody>
      </p:sp>
      <p:sp>
        <p:nvSpPr>
          <p:cNvPr id="13" name="bullet-2">
            <a:extLst>
              <a:ext uri="{FF2B5EF4-FFF2-40B4-BE49-F238E27FC236}">
                <a16:creationId xmlns:a16="http://schemas.microsoft.com/office/drawing/2014/main" id="{4E4E0028-36DD-4344-952D-46AD16757F30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Persist base and repeat in a fresh run.</a:t>
            </a:r>
          </a:p>
        </p:txBody>
      </p:sp>
      <p:sp>
        <p:nvSpPr>
          <p:cNvPr id="14" name="bullet-3">
            <a:extLst>
              <a:ext uri="{FF2B5EF4-FFF2-40B4-BE49-F238E27FC236}">
                <a16:creationId xmlns:a16="http://schemas.microsoft.com/office/drawing/2014/main" id="{8C90B7D3-D9FB-44BA-839E-BB7DC2BD854F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Separate cache population time from reuse time.</a:t>
            </a:r>
          </a:p>
        </p:txBody>
      </p:sp>
      <p:sp>
        <p:nvSpPr>
          <p:cNvPr id="15" name="bullet-4">
            <a:extLst>
              <a:ext uri="{FF2B5EF4-FFF2-40B4-BE49-F238E27FC236}">
                <a16:creationId xmlns:a16="http://schemas.microsoft.com/office/drawing/2014/main" id="{319134AD-E182-4A75-AD4D-9024DBD33943}"/>
              </a:ext>
            </a:extLst>
          </p:cNvPr>
          <p:cNvSpPr>
            <a:spLocks noGrp="1"/>
          </p:cNvSpPr>
          <p:nvPr/>
        </p:nvSpPr>
        <p:spPr>
          <a:xfrm>
            <a:off x="742950" y="57340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Inspect the Storage tab and unpersist afterward.</a:t>
            </a:r>
          </a:p>
        </p:txBody>
      </p:sp>
    </p:spTree>
    <p:extLst>
      <p:ext uri="{BB962C8B-B14F-4D97-AF65-F5344CB8AC3E}">
        <p14:creationId xmlns:p14="http://schemas.microsoft.com/office/powerpoint/2010/main" val="451019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">
            <a:extLst>
              <a:ext uri="{FF2B5EF4-FFF2-40B4-BE49-F238E27FC236}">
                <a16:creationId xmlns:a16="http://schemas.microsoft.com/office/drawing/2014/main" id="{60CCE91C-EC41-4BC0-A92B-984E883F5B0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DDC1D9-CA0B-40DD-A294-FD8224545D09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Cache reuse solution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2F767A35-949F-41C8-AEB0-21270D2FF265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FBCA9039-3E53-405C-B514-5695733D2291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85AC51A1-28A5-410A-9B01-D01DB25C81C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D7A7FFA6-AC6F-4E20-B5B5-D75011B317D6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7" name="solution-banner">
            <a:extLst>
              <a:ext uri="{FF2B5EF4-FFF2-40B4-BE49-F238E27FC236}">
                <a16:creationId xmlns:a16="http://schemas.microsoft.com/office/drawing/2014/main" id="{C8E4C691-B7CE-4FFB-8388-6F2031D833F6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2E7D5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olution-label">
            <a:extLst>
              <a:ext uri="{FF2B5EF4-FFF2-40B4-BE49-F238E27FC236}">
                <a16:creationId xmlns:a16="http://schemas.microsoft.com/office/drawing/2014/main" id="{B71B10EC-6278-4870-A7CF-AFB98451DB1D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5</a:t>
            </a:r>
          </a:p>
        </p:txBody>
      </p:sp>
      <p:sp>
        <p:nvSpPr>
          <p:cNvPr id="9" name="code-background">
            <a:extLst>
              <a:ext uri="{FF2B5EF4-FFF2-40B4-BE49-F238E27FC236}">
                <a16:creationId xmlns:a16="http://schemas.microsoft.com/office/drawing/2014/main" id="{E3D7FD90-4CAE-4FA2-9CCC-7B392F1032D1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0629900" cy="1428750"/>
          </a:xfrm>
          <a:prstGeom prst="roundRect">
            <a:avLst>
              <a:gd name="adj" fmla="val 5333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code">
            <a:extLst>
              <a:ext uri="{FF2B5EF4-FFF2-40B4-BE49-F238E27FC236}">
                <a16:creationId xmlns:a16="http://schemas.microsoft.com/office/drawing/2014/main" id="{31C86949-B65E-4179-80C8-66884E124EEF}"/>
              </a:ext>
            </a:extLst>
          </p:cNvPr>
          <p:cNvSpPr>
            <a:spLocks noGrp="1"/>
          </p:cNvSpPr>
          <p:nvPr/>
        </p:nvSpPr>
        <p:spPr>
          <a:xfrm>
            <a:off x="971550" y="2552700"/>
            <a:ext cx="10239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base = events.filter($"event_type" =!= "view")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.persist(StorageLevel.MEMORY_AND_DISK)</a:t>
            </a:r>
          </a:p>
          <a:p>
            <a:endParaRPr sz="1200" b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base.groupBy("event_type").count().count() // populates cache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base.groupBy("user_id").agg(sum("value")).count() // reuses cache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base.unpersist()</a:t>
            </a:r>
          </a:p>
        </p:txBody>
      </p:sp>
      <p:sp>
        <p:nvSpPr>
          <p:cNvPr id="11" name="note-background">
            <a:extLst>
              <a:ext uri="{FF2B5EF4-FFF2-40B4-BE49-F238E27FC236}">
                <a16:creationId xmlns:a16="http://schemas.microsoft.com/office/drawing/2014/main" id="{5C93C7AB-D1EC-4C5E-BE16-E06C2F6BFC7C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note-accent">
            <a:extLst>
              <a:ext uri="{FF2B5EF4-FFF2-40B4-BE49-F238E27FC236}">
                <a16:creationId xmlns:a16="http://schemas.microsoft.com/office/drawing/2014/main" id="{355DF968-F0D0-42BF-98BC-B9E2F04AE1FE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note">
            <a:extLst>
              <a:ext uri="{FF2B5EF4-FFF2-40B4-BE49-F238E27FC236}">
                <a16:creationId xmlns:a16="http://schemas.microsoft.com/office/drawing/2014/main" id="{DA95A75F-E191-4F00-8793-202F08B57223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INTERPRETATION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Compare total time for both actions. Caching can lose when reuse does not repay population and storage costs.</a:t>
            </a:r>
          </a:p>
        </p:txBody>
      </p:sp>
    </p:spTree>
    <p:extLst>
      <p:ext uri="{BB962C8B-B14F-4D97-AF65-F5344CB8AC3E}">
        <p14:creationId xmlns:p14="http://schemas.microsoft.com/office/powerpoint/2010/main" val="511593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CE3936E0-F217-4A3B-8E43-3F935D84ABF6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STORAGE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9A81AF7-F94C-4928-9249-BD5C549E0FCD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Small files and output layout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23CBF3C2-1471-4812-8F63-5C67DC9BE8F2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33B20775-A864-4CDB-B746-19320DF46F26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B1B29EE-05C4-47F2-8DCF-23A65BBC6A9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BC195E17-8EBF-455C-BB2F-6D539C3B1181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FA93BA90-2813-4843-80ED-74880207D8C3}"/>
              </a:ext>
            </a:extLst>
          </p:cNvPr>
          <p:cNvGraphicFramePr/>
          <p:nvPr/>
        </p:nvGraphicFramePr>
        <p:xfrm>
          <a:off x="685800" y="1714500"/>
          <a:ext cx="10820400" cy="2857500"/>
        </p:xfrm>
        <a:graphic>
          <a:graphicData uri="http://schemas.openxmlformats.org/drawingml/2006/table">
            <a:tbl>
              <a:tblPr firstRow="1" bandRow="1"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Symptom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Many tiny input files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Listing, open, and scheduling overhead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Compact to a sensible file size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repartition(1)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bottleneck task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Write distributed output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High-cardinality partitionBy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Many directories and tiny files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Choose a lower-cardinality filter column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Unpartitioned date scans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Reads unrelated dates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 by a commonly filtered date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ode-background">
            <a:extLst>
              <a:ext uri="{FF2B5EF4-FFF2-40B4-BE49-F238E27FC236}">
                <a16:creationId xmlns:a16="http://schemas.microsoft.com/office/drawing/2014/main" id="{6A5FAD94-E1ED-4E70-9EF2-FEC91A34A951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10629900" cy="619125"/>
          </a:xfrm>
          <a:prstGeom prst="roundRect">
            <a:avLst>
              <a:gd name="adj" fmla="val 12308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code">
            <a:extLst>
              <a:ext uri="{FF2B5EF4-FFF2-40B4-BE49-F238E27FC236}">
                <a16:creationId xmlns:a16="http://schemas.microsoft.com/office/drawing/2014/main" id="{EBD8AD8D-616B-4F89-AE16-28AE4C21C9E6}"/>
              </a:ext>
            </a:extLst>
          </p:cNvPr>
          <p:cNvSpPr>
            <a:spLocks noGrp="1"/>
          </p:cNvSpPr>
          <p:nvPr/>
        </p:nvSpPr>
        <p:spPr>
          <a:xfrm>
            <a:off x="971550" y="5076825"/>
            <a:ext cx="10239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938"/>
          </a:bodyPr>
          <a:lstStyle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fragmentedOrders.coalesce(32)</a:t>
            </a:r>
          </a:p>
          <a:p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.write.mode("overwrite").parquet(s"$root/orders_compacted")</a:t>
            </a:r>
          </a:p>
        </p:txBody>
      </p:sp>
    </p:spTree>
    <p:extLst>
      <p:ext uri="{BB962C8B-B14F-4D97-AF65-F5344CB8AC3E}">
        <p14:creationId xmlns:p14="http://schemas.microsoft.com/office/powerpoint/2010/main" val="1239345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">
            <a:extLst>
              <a:ext uri="{FF2B5EF4-FFF2-40B4-BE49-F238E27FC236}">
                <a16:creationId xmlns:a16="http://schemas.microsoft.com/office/drawing/2014/main" id="{4D3ECC99-20D5-4726-B70F-09174E25D0D6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OBSERVABILITY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993180B-EA49-4E5A-A187-8EE83C395849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Spark UI diagnostic workflow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3FE1FEF4-EB38-4B0C-9C50-7E29E3660F11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437978CD-2805-45B4-A1B2-B30D6DB0231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93D505F-45D5-49DA-AB96-814CC701D88A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46E81F67-9C29-4C9F-9A45-086DED6E2234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93E1560C-FE80-4974-BC3E-CF08DF1759E9}"/>
              </a:ext>
            </a:extLst>
          </p:cNvPr>
          <p:cNvGraphicFramePr/>
          <p:nvPr/>
        </p:nvGraphicFramePr>
        <p:xfrm>
          <a:off x="685800" y="1714500"/>
          <a:ext cx="10820400" cy="3524248"/>
        </p:xfrm>
        <a:graphic>
          <a:graphicData uri="http://schemas.openxmlformats.org/drawingml/2006/table">
            <a:tbl>
              <a:tblPr firstRow="1" band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46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Area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Look for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SQL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Physical plan and runtime statistics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operator dominates?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Jobs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Repeated actions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 upstream work recomputed?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Shuffle, spill, task distribution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 the stage skewed?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Executors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GC, input, failures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 pressure isolated or global?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Storage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Cached size and fraction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Does persistence pay?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Environment</a:t>
                      </a:r>
                    </a:p>
                  </a:txBody>
                  <a:tcPr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Effective properties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Did the intended setting apply?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 cap="flat" cmpd="sng" algn="ctr">
                      <a:solidFill>
                        <a:srgbClr val="CC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note-background">
            <a:extLst>
              <a:ext uri="{FF2B5EF4-FFF2-40B4-BE49-F238E27FC236}">
                <a16:creationId xmlns:a16="http://schemas.microsoft.com/office/drawing/2014/main" id="{45FDEE45-E5D3-43A6-B955-F562F777A5F4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note-accent">
            <a:extLst>
              <a:ext uri="{FF2B5EF4-FFF2-40B4-BE49-F238E27FC236}">
                <a16:creationId xmlns:a16="http://schemas.microsoft.com/office/drawing/2014/main" id="{8D4E4E45-8ED6-43DC-B552-A5B4E494E8B0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note">
            <a:extLst>
              <a:ext uri="{FF2B5EF4-FFF2-40B4-BE49-F238E27FC236}">
                <a16:creationId xmlns:a16="http://schemas.microsoft.com/office/drawing/2014/main" id="{F4B1A88C-E1A4-42F9-A775-6FEE84EB9243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HABIT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Compare the slowest task with the median. Averages hide skew and stragglers.</a:t>
            </a:r>
          </a:p>
        </p:txBody>
      </p:sp>
    </p:spTree>
    <p:extLst>
      <p:ext uri="{BB962C8B-B14F-4D97-AF65-F5344CB8AC3E}">
        <p14:creationId xmlns:p14="http://schemas.microsoft.com/office/powerpoint/2010/main" val="765367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AAFD6C7E-6F0C-453E-A66E-4D2D7670F679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SCALA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B44B143-A875-45AF-BFC6-E8D97B261C65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Scala-specific Spark tips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433AC205-E6BD-4CCC-BFB9-64B72B6AC5AB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6BC37A9C-A86F-40A1-979B-934F19313FE1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5438AB6-253F-47F6-AEF3-61E83EB6812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1C43007A-952E-46F8-B8B0-27414F4F1F02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7" name="bullet-1">
            <a:extLst>
              <a:ext uri="{FF2B5EF4-FFF2-40B4-BE49-F238E27FC236}">
                <a16:creationId xmlns:a16="http://schemas.microsoft.com/office/drawing/2014/main" id="{C1B40203-7DC6-48E0-8E8E-556968DB5D71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Prefer DataFrame and SQL expressions for relational processing.</a:t>
            </a:r>
          </a:p>
        </p:txBody>
      </p:sp>
      <p:sp>
        <p:nvSpPr>
          <p:cNvPr id="8" name="bullet-2">
            <a:extLst>
              <a:ext uri="{FF2B5EF4-FFF2-40B4-BE49-F238E27FC236}">
                <a16:creationId xmlns:a16="http://schemas.microsoft.com/office/drawing/2014/main" id="{8898EC44-582D-4EF3-B6A2-07D47242B06B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Use typed Datasets when type safety justifies conversion costs.</a:t>
            </a:r>
          </a:p>
        </p:txBody>
      </p:sp>
      <p:sp>
        <p:nvSpPr>
          <p:cNvPr id="9" name="bullet-3">
            <a:extLst>
              <a:ext uri="{FF2B5EF4-FFF2-40B4-BE49-F238E27FC236}">
                <a16:creationId xmlns:a16="http://schemas.microsoft.com/office/drawing/2014/main" id="{5DA27702-E08C-4446-9C0E-F60A48BFE6C7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For RDD aggregation, prefer reduceByKey or aggregateByKey over groupByKey.</a:t>
            </a:r>
          </a:p>
        </p:txBody>
      </p:sp>
      <p:sp>
        <p:nvSpPr>
          <p:cNvPr id="10" name="bullet-4">
            <a:extLst>
              <a:ext uri="{FF2B5EF4-FFF2-40B4-BE49-F238E27FC236}">
                <a16:creationId xmlns:a16="http://schemas.microsoft.com/office/drawing/2014/main" id="{8EA51862-41AF-48D7-A655-CF8DDCB3A632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Use mapPartitions to amortize expensive client setup.</a:t>
            </a:r>
          </a:p>
        </p:txBody>
      </p:sp>
      <p:sp>
        <p:nvSpPr>
          <p:cNvPr id="11" name="bullet-5">
            <a:extLst>
              <a:ext uri="{FF2B5EF4-FFF2-40B4-BE49-F238E27FC236}">
                <a16:creationId xmlns:a16="http://schemas.microsoft.com/office/drawing/2014/main" id="{E61BB662-5956-40CE-BF44-6A91D1EB5A56}"/>
              </a:ext>
            </a:extLst>
          </p:cNvPr>
          <p:cNvSpPr>
            <a:spLocks noGrp="1"/>
          </p:cNvSpPr>
          <p:nvPr/>
        </p:nvSpPr>
        <p:spPr>
          <a:xfrm>
            <a:off x="742950" y="38481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Keep closures small and broadcast genuinely small lookup data.</a:t>
            </a:r>
          </a:p>
        </p:txBody>
      </p:sp>
      <p:sp>
        <p:nvSpPr>
          <p:cNvPr id="12" name="bullet-6">
            <a:extLst>
              <a:ext uri="{FF2B5EF4-FFF2-40B4-BE49-F238E27FC236}">
                <a16:creationId xmlns:a16="http://schemas.microsoft.com/office/drawing/2014/main" id="{68F6723D-8633-4F57-A66D-88351E4E470D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Design external side effects for task retries and speculative execution.</a:t>
            </a:r>
          </a:p>
        </p:txBody>
      </p:sp>
      <p:sp>
        <p:nvSpPr>
          <p:cNvPr id="13" name="note-background">
            <a:extLst>
              <a:ext uri="{FF2B5EF4-FFF2-40B4-BE49-F238E27FC236}">
                <a16:creationId xmlns:a16="http://schemas.microsoft.com/office/drawing/2014/main" id="{80753326-B4A3-4AE5-BE86-1E957F3B6164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note-accent">
            <a:extLst>
              <a:ext uri="{FF2B5EF4-FFF2-40B4-BE49-F238E27FC236}">
                <a16:creationId xmlns:a16="http://schemas.microsoft.com/office/drawing/2014/main" id="{72166563-4153-46D4-B06D-573308CAEED1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note">
            <a:extLst>
              <a:ext uri="{FF2B5EF4-FFF2-40B4-BE49-F238E27FC236}">
                <a16:creationId xmlns:a16="http://schemas.microsoft.com/office/drawing/2014/main" id="{950F9EE6-6032-4740-B631-6BA18B4E4675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678"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CORRECTION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Scala can avoid Python boundary costs in some workloads, but language choice alone does not guarantee a faster Spark job.</a:t>
            </a:r>
          </a:p>
        </p:txBody>
      </p:sp>
    </p:spTree>
    <p:extLst>
      <p:ext uri="{BB962C8B-B14F-4D97-AF65-F5344CB8AC3E}">
        <p14:creationId xmlns:p14="http://schemas.microsoft.com/office/powerpoint/2010/main" val="986684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E4DB3DF2-1C6F-4DF5-9DC4-F4735B0010B0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04EEB7D-232E-45D7-9A97-D117F14D886C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End-to-end optimization challenge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89D32532-D93E-4EDF-AC7E-FA86B471A259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658A922D-6F40-4C5E-9255-24857793BD12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FF59D50-8FD6-49C2-9A1E-6BAD01E23081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B7F0C693-6EC7-4730-895C-BF517A99C953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7" name="exercise-banner">
            <a:extLst>
              <a:ext uri="{FF2B5EF4-FFF2-40B4-BE49-F238E27FC236}">
                <a16:creationId xmlns:a16="http://schemas.microsoft.com/office/drawing/2014/main" id="{CA7B720C-6675-43C6-A2CC-5C37E3C2DA0E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F4C95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exercise-label">
            <a:extLst>
              <a:ext uri="{FF2B5EF4-FFF2-40B4-BE49-F238E27FC236}">
                <a16:creationId xmlns:a16="http://schemas.microsoft.com/office/drawing/2014/main" id="{6AA8A46A-4423-488E-BB93-1023B3F5E06D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6  |  10 minutes</a:t>
            </a:r>
          </a:p>
        </p:txBody>
      </p:sp>
      <p:sp>
        <p:nvSpPr>
          <p:cNvPr id="9" name="exercise-prompt">
            <a:extLst>
              <a:ext uri="{FF2B5EF4-FFF2-40B4-BE49-F238E27FC236}">
                <a16:creationId xmlns:a16="http://schemas.microsoft.com/office/drawing/2014/main" id="{C62007B8-34E7-4993-8546-AF20672C5DE0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Produce paid revenue by customer segment from the generated dataset.</a:t>
            </a:r>
          </a:p>
        </p:txBody>
      </p:sp>
      <p:sp>
        <p:nvSpPr>
          <p:cNvPr id="10" name="bullet-1">
            <a:extLst>
              <a:ext uri="{FF2B5EF4-FFF2-40B4-BE49-F238E27FC236}">
                <a16:creationId xmlns:a16="http://schemas.microsoft.com/office/drawing/2014/main" id="{6FB1BF1A-85F6-4063-8B6C-A17AB878F8C4}"/>
              </a:ext>
            </a:extLst>
          </p:cNvPr>
          <p:cNvSpPr>
            <a:spLocks noGrp="1"/>
          </p:cNvSpPr>
          <p:nvPr/>
        </p:nvSpPr>
        <p:spPr>
          <a:xfrm>
            <a:off x="742950" y="30956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Create a baseline and validate row counts and revenue totals.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4465E0D7-BC87-47EC-85F2-1D4346B811BE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Reduce columns and rows before the join.</a:t>
            </a:r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E556A5C8-7828-4189-865E-1C47777DFC9A}"/>
              </a:ext>
            </a:extLst>
          </p:cNvPr>
          <p:cNvSpPr>
            <a:spLocks noGrp="1"/>
          </p:cNvSpPr>
          <p:nvPr/>
        </p:nvSpPr>
        <p:spPr>
          <a:xfrm>
            <a:off x="742950" y="41433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Inspect the join strategy, shuffle volume, and task distribution.</a:t>
            </a:r>
          </a:p>
        </p:txBody>
      </p:sp>
      <p:sp>
        <p:nvSpPr>
          <p:cNvPr id="13" name="bullet-4">
            <a:extLst>
              <a:ext uri="{FF2B5EF4-FFF2-40B4-BE49-F238E27FC236}">
                <a16:creationId xmlns:a16="http://schemas.microsoft.com/office/drawing/2014/main" id="{908401CA-ECEC-48AA-A583-0C7A35831C38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Address skew only if metrics show a critical straggler.</a:t>
            </a:r>
          </a:p>
        </p:txBody>
      </p:sp>
      <p:sp>
        <p:nvSpPr>
          <p:cNvPr id="14" name="bullet-5">
            <a:extLst>
              <a:ext uri="{FF2B5EF4-FFF2-40B4-BE49-F238E27FC236}">
                <a16:creationId xmlns:a16="http://schemas.microsoft.com/office/drawing/2014/main" id="{9BB1DA03-845D-4DB3-9426-4D506C4D3CCC}"/>
              </a:ext>
            </a:extLst>
          </p:cNvPr>
          <p:cNvSpPr>
            <a:spLocks noGrp="1"/>
          </p:cNvSpPr>
          <p:nvPr/>
        </p:nvSpPr>
        <p:spPr>
          <a:xfrm>
            <a:off x="742950" y="51911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Write distributed Parquet output and report before-and-after evidence.</a:t>
            </a:r>
          </a:p>
        </p:txBody>
      </p:sp>
      <p:sp>
        <p:nvSpPr>
          <p:cNvPr id="15" name="note-background">
            <a:extLst>
              <a:ext uri="{FF2B5EF4-FFF2-40B4-BE49-F238E27FC236}">
                <a16:creationId xmlns:a16="http://schemas.microsoft.com/office/drawing/2014/main" id="{31C67F4B-2596-4943-B170-B3D7C0C69011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note-accent">
            <a:extLst>
              <a:ext uri="{FF2B5EF4-FFF2-40B4-BE49-F238E27FC236}">
                <a16:creationId xmlns:a16="http://schemas.microsoft.com/office/drawing/2014/main" id="{0EC112B7-4B26-4929-8BA0-DE19405AB02F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note">
            <a:extLst>
              <a:ext uri="{FF2B5EF4-FFF2-40B4-BE49-F238E27FC236}">
                <a16:creationId xmlns:a16="http://schemas.microsoft.com/office/drawing/2014/main" id="{D527A0BA-E2A0-406C-B572-03E48F083635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DELIVERABLE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Provide the final Scala pipeline, formatted plan, five key metrics, and a short explanation of each change.</a:t>
            </a:r>
          </a:p>
        </p:txBody>
      </p:sp>
    </p:spTree>
    <p:extLst>
      <p:ext uri="{BB962C8B-B14F-4D97-AF65-F5344CB8AC3E}">
        <p14:creationId xmlns:p14="http://schemas.microsoft.com/office/powerpoint/2010/main" val="1118356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">
            <a:extLst>
              <a:ext uri="{FF2B5EF4-FFF2-40B4-BE49-F238E27FC236}">
                <a16:creationId xmlns:a16="http://schemas.microsoft.com/office/drawing/2014/main" id="{BD9262F1-14E4-4E65-8738-C8A4B4172D8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5DDE7EA-7F75-4F25-AE2D-7567C424373A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End-to-end challenge solution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30DCB9FF-5116-49BB-941C-A43F29AAFEA8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428750" cy="3810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0B937436-BCE3-4102-AC5B-15C2748506A2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6DC311A-385B-46B0-B3A6-4DE64CD1882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58E45616-0369-47C8-AE22-42228DE1872A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7" name="solution-banner">
            <a:extLst>
              <a:ext uri="{FF2B5EF4-FFF2-40B4-BE49-F238E27FC236}">
                <a16:creationId xmlns:a16="http://schemas.microsoft.com/office/drawing/2014/main" id="{593657C4-C47C-4A50-A8AA-6966B5416E8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2E7D5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olution-label">
            <a:extLst>
              <a:ext uri="{FF2B5EF4-FFF2-40B4-BE49-F238E27FC236}">
                <a16:creationId xmlns:a16="http://schemas.microsoft.com/office/drawing/2014/main" id="{F19817F5-14EC-4419-BBF7-8791A9665E3E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6</a:t>
            </a:r>
          </a:p>
        </p:txBody>
      </p:sp>
      <p:sp>
        <p:nvSpPr>
          <p:cNvPr id="9" name="code-background">
            <a:extLst>
              <a:ext uri="{FF2B5EF4-FFF2-40B4-BE49-F238E27FC236}">
                <a16:creationId xmlns:a16="http://schemas.microsoft.com/office/drawing/2014/main" id="{C55082ED-0251-479E-A134-969910DC8D0E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10629900" cy="2095500"/>
          </a:xfrm>
          <a:prstGeom prst="roundRect">
            <a:avLst>
              <a:gd name="adj" fmla="val 3636"/>
            </a:avLst>
          </a:prstGeom>
          <a:solidFill>
            <a:srgbClr val="17263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code">
            <a:extLst>
              <a:ext uri="{FF2B5EF4-FFF2-40B4-BE49-F238E27FC236}">
                <a16:creationId xmlns:a16="http://schemas.microsoft.com/office/drawing/2014/main" id="{DD3B8CD2-BDA9-4B61-AF07-D12FEF9F1B3E}"/>
              </a:ext>
            </a:extLst>
          </p:cNvPr>
          <p:cNvSpPr>
            <a:spLocks noGrp="1"/>
          </p:cNvSpPr>
          <p:nvPr/>
        </p:nvSpPr>
        <p:spPr>
          <a:xfrm>
            <a:off x="971550" y="2505075"/>
            <a:ext cx="10239375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paid = orders.filter($"status" === "PAID")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.select("customer_id", "amount")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segments = customers.select("customer_id", "segment")</a:t>
            </a:r>
          </a:p>
          <a:p>
            <a:endParaRPr sz="1125" b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revenue = paid.join(segments, Seq("customer_id"))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.groupBy("segment").agg(sum("amount").as("revenue"))</a:t>
            </a:r>
          </a:p>
          <a:p>
            <a:endParaRPr sz="1125" b="0">
              <a:solidFill>
                <a:srgbClr val="FFFFFF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revenue.explain("formatted")</a:t>
            </a:r>
          </a:p>
          <a:p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revenue.write.mode("overwrite").parquet(s"$root/revenue_by_segment")</a:t>
            </a:r>
          </a:p>
        </p:txBody>
      </p:sp>
      <p:sp>
        <p:nvSpPr>
          <p:cNvPr id="11" name="note-background">
            <a:extLst>
              <a:ext uri="{FF2B5EF4-FFF2-40B4-BE49-F238E27FC236}">
                <a16:creationId xmlns:a16="http://schemas.microsoft.com/office/drawing/2014/main" id="{40CADB2C-F5CE-44FF-A7ED-B7D840B17710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10782300" cy="476250"/>
          </a:xfrm>
          <a:prstGeom prst="roundRect">
            <a:avLst>
              <a:gd name="adj" fmla="val 16000"/>
            </a:avLst>
          </a:prstGeom>
          <a:solidFill>
            <a:srgbClr val="F2EEF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note-accent">
            <a:extLst>
              <a:ext uri="{FF2B5EF4-FFF2-40B4-BE49-F238E27FC236}">
                <a16:creationId xmlns:a16="http://schemas.microsoft.com/office/drawing/2014/main" id="{87D5E926-3B90-4505-9947-D08575932183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66675" cy="476250"/>
          </a:xfrm>
          <a:prstGeom prst="rect">
            <a:avLst/>
          </a:prstGeom>
          <a:solidFill>
            <a:srgbClr val="4C2F8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note">
            <a:extLst>
              <a:ext uri="{FF2B5EF4-FFF2-40B4-BE49-F238E27FC236}">
                <a16:creationId xmlns:a16="http://schemas.microsoft.com/office/drawing/2014/main" id="{DEBEFB92-8100-4734-924F-6CBB02E6F5FA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CONDITION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Do not broadcast customers without verifying its size. Filter and projection may be the correct first optimization.</a:t>
            </a:r>
          </a:p>
        </p:txBody>
      </p:sp>
    </p:spTree>
    <p:extLst>
      <p:ext uri="{BB962C8B-B14F-4D97-AF65-F5344CB8AC3E}">
        <p14:creationId xmlns:p14="http://schemas.microsoft.com/office/powerpoint/2010/main" val="9500294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2719</Words>
  <Application>Microsoft Office PowerPoint</Application>
  <DocSecurity>0</DocSecurity>
  <PresentationFormat>Grand écran</PresentationFormat>
  <Paragraphs>447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Aptos</vt:lpstr>
      <vt:lpstr>DejaVu Sans</vt:lpstr>
      <vt:lpstr>DejaVu Sans Mono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Kodjo Klouvi</cp:lastModifiedBy>
  <cp:revision>1</cp:revision>
  <cp:lastPrinted>2026-10-19T15:10:34Z</cp:lastPrinted>
  <dcterms:created xsi:type="dcterms:W3CDTF">2026-10-19T09:56:11Z</dcterms:created>
  <dcterms:modified xsi:type="dcterms:W3CDTF">2026-10-19T15:10:49Z</dcterms:modified>
</cp:coreProperties>
</file>